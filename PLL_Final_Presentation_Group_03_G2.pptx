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9" r:id="rId1"/>
  </p:sldMasterIdLst>
  <p:notesMasterIdLst>
    <p:notesMasterId r:id="rId47"/>
  </p:notesMasterIdLst>
  <p:handoutMasterIdLst>
    <p:handoutMasterId r:id="rId48"/>
  </p:handoutMasterIdLst>
  <p:sldIdLst>
    <p:sldId id="256" r:id="rId2"/>
    <p:sldId id="272" r:id="rId3"/>
    <p:sldId id="280" r:id="rId4"/>
    <p:sldId id="307" r:id="rId5"/>
    <p:sldId id="292" r:id="rId6"/>
    <p:sldId id="294" r:id="rId7"/>
    <p:sldId id="258" r:id="rId8"/>
    <p:sldId id="308" r:id="rId9"/>
    <p:sldId id="325" r:id="rId10"/>
    <p:sldId id="326" r:id="rId11"/>
    <p:sldId id="327" r:id="rId12"/>
    <p:sldId id="309" r:id="rId13"/>
    <p:sldId id="310" r:id="rId14"/>
    <p:sldId id="323" r:id="rId15"/>
    <p:sldId id="324" r:id="rId16"/>
    <p:sldId id="329" r:id="rId17"/>
    <p:sldId id="330" r:id="rId18"/>
    <p:sldId id="312" r:id="rId19"/>
    <p:sldId id="313" r:id="rId20"/>
    <p:sldId id="318" r:id="rId21"/>
    <p:sldId id="321" r:id="rId22"/>
    <p:sldId id="320" r:id="rId23"/>
    <p:sldId id="343" r:id="rId24"/>
    <p:sldId id="342" r:id="rId25"/>
    <p:sldId id="314" r:id="rId26"/>
    <p:sldId id="315" r:id="rId27"/>
    <p:sldId id="316" r:id="rId28"/>
    <p:sldId id="317" r:id="rId29"/>
    <p:sldId id="322" r:id="rId30"/>
    <p:sldId id="276" r:id="rId31"/>
    <p:sldId id="328" r:id="rId32"/>
    <p:sldId id="331" r:id="rId33"/>
    <p:sldId id="332" r:id="rId34"/>
    <p:sldId id="333" r:id="rId35"/>
    <p:sldId id="334" r:id="rId36"/>
    <p:sldId id="335" r:id="rId37"/>
    <p:sldId id="336" r:id="rId38"/>
    <p:sldId id="337" r:id="rId39"/>
    <p:sldId id="338" r:id="rId40"/>
    <p:sldId id="346" r:id="rId41"/>
    <p:sldId id="345" r:id="rId42"/>
    <p:sldId id="299" r:id="rId43"/>
    <p:sldId id="300" r:id="rId44"/>
    <p:sldId id="344" r:id="rId45"/>
    <p:sldId id="268" r:id="rId46"/>
  </p:sldIdLst>
  <p:sldSz cx="12192000" cy="6858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339" autoAdjust="0"/>
    <p:restoredTop sz="95153"/>
  </p:normalViewPr>
  <p:slideViewPr>
    <p:cSldViewPr snapToGrid="0" snapToObjects="1">
      <p:cViewPr varScale="1">
        <p:scale>
          <a:sx n="85" d="100"/>
          <a:sy n="85" d="100"/>
        </p:scale>
        <p:origin x="43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400" b="1" i="0">
                <a:solidFill>
                  <a:srgbClr val="262626"/>
                </a:solidFill>
                <a:latin typeface="Arial"/>
              </a:rPr>
              <a:t>Block area (mm²)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Area</c:v>
                </c:pt>
              </c:strCache>
            </c:strRef>
          </c:tx>
          <c:spPr>
            <a:solidFill>
              <a:srgbClr val="C00000"/>
            </a:solidFill>
          </c:spPr>
          <c:invertIfNegative val="1"/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Divider (÷16)</c:v>
                </c:pt>
                <c:pt idx="1">
                  <c:v>Loop filter</c:v>
                </c:pt>
                <c:pt idx="2">
                  <c:v>VCO</c:v>
                </c:pt>
                <c:pt idx="3">
                  <c:v>Charge pump</c:v>
                </c:pt>
                <c:pt idx="4">
                  <c:v>PFD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2.1000000000000001E-4</c:v>
                </c:pt>
                <c:pt idx="1">
                  <c:v>0.20243</c:v>
                </c:pt>
                <c:pt idx="2">
                  <c:v>4.7299999999999998E-3</c:v>
                </c:pt>
                <c:pt idx="3">
                  <c:v>1.0290000000000001E-2</c:v>
                </c:pt>
                <c:pt idx="4">
                  <c:v>1.0829999999999999E-2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3688-4621-8353-E52B5308C69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26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90F265C-9DF2-E8FB-C281-49A95720C62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688A12-072E-E9DD-75D8-792036B5CA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5F0298-9D9B-42EE-9FBC-5BF5BA8C94E8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286D79-EFC6-014D-40F3-68F8FB024E0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CA9D36-8240-DBBB-128E-9E573BE9AC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C436C1-A97E-48B9-A38A-E4B8449736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14307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6F15EC-E103-EA4C-8F3D-F70BFBFE368F}" type="datetimeFigureOut">
              <a:rPr lang="en-BD" smtClean="0"/>
              <a:t>09/29/2026</a:t>
            </a:fld>
            <a:endParaRPr lang="en-B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15D39E-BF79-5044-9B9C-292D64001D90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13003438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GB"/>
              <a:t>Title of the Project</a:t>
            </a:r>
            <a:endParaRPr lang="en-BD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9C29D53-9981-884B-B5B6-B5743DF81FD1}" type="slidenum">
              <a:rPr lang="en-BD" smtClean="0"/>
              <a:t>‹#›</a:t>
            </a:fld>
            <a:endParaRPr lang="en-BD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CC9C879-EF2D-BA4E-B6A9-D4377737278E}"/>
              </a:ext>
            </a:extLst>
          </p:cNvPr>
          <p:cNvSpPr/>
          <p:nvPr userDrawn="1"/>
        </p:nvSpPr>
        <p:spPr>
          <a:xfrm>
            <a:off x="0" y="0"/>
            <a:ext cx="12192000" cy="156226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D" sz="2400" dirty="0">
                <a:latin typeface="Arial" panose="020B0604020202020204" pitchFamily="34" charset="0"/>
                <a:cs typeface="Arial" panose="020B0604020202020204" pitchFamily="34" charset="0"/>
              </a:rPr>
              <a:t>EEE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xxx</a:t>
            </a:r>
            <a:r>
              <a:rPr lang="en-BD" sz="2400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Course Title</a:t>
            </a:r>
            <a:r>
              <a:rPr lang="en-BD" sz="2400" dirty="0">
                <a:latin typeface="Arial" panose="020B0604020202020204" pitchFamily="34" charset="0"/>
                <a:cs typeface="Arial" panose="020B0604020202020204" pitchFamily="34" charset="0"/>
              </a:rPr>
              <a:t> Laboratory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BD" sz="2800" dirty="0">
                <a:latin typeface="Arial" panose="020B0604020202020204" pitchFamily="34" charset="0"/>
                <a:cs typeface="Arial" panose="020B0604020202020204" pitchFamily="34" charset="0"/>
              </a:rPr>
              <a:t>Jan 202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x </a:t>
            </a:r>
            <a:r>
              <a:rPr lang="en-BD" sz="2800" dirty="0">
                <a:latin typeface="Arial" panose="020B0604020202020204" pitchFamily="34" charset="0"/>
                <a:cs typeface="Arial" panose="020B0604020202020204" pitchFamily="34" charset="0"/>
              </a:rPr>
              <a:t>Level-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BD" sz="2800" dirty="0">
                <a:latin typeface="Arial" panose="020B0604020202020204" pitchFamily="34" charset="0"/>
                <a:cs typeface="Arial" panose="020B0604020202020204" pitchFamily="34" charset="0"/>
              </a:rPr>
              <a:t> Term-I Section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endParaRPr lang="en-BD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BD" sz="3600" dirty="0">
                <a:latin typeface="Arial" panose="020B0604020202020204" pitchFamily="34" charset="0"/>
                <a:cs typeface="Arial" panose="020B0604020202020204" pitchFamily="34" charset="0"/>
              </a:rPr>
              <a:t>Final Project Demonstration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799C6A4-662A-4C47-AB70-4A7A449F40AE}"/>
              </a:ext>
            </a:extLst>
          </p:cNvPr>
          <p:cNvSpPr/>
          <p:nvPr userDrawn="1"/>
        </p:nvSpPr>
        <p:spPr>
          <a:xfrm>
            <a:off x="0" y="5968657"/>
            <a:ext cx="12192000" cy="88934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tabLst>
                <a:tab pos="2865755" algn="ctr"/>
                <a:tab pos="5731510" algn="r"/>
              </a:tabLst>
            </a:pPr>
            <a:r>
              <a:rPr lang="en-US" sz="1800" cap="small" spc="16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Bangladesh University of Engineering and Technology</a:t>
            </a:r>
            <a:endParaRPr lang="en-GB" sz="18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/>
            <a:r>
              <a:rPr lang="en-US" sz="1800" cap="small" spc="16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Department of Electrical and Electronic Engineering</a:t>
            </a:r>
            <a:endParaRPr lang="en-BD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89B5FDC4-269D-0A46-8DED-E482158D83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4048"/>
          <a:stretch/>
        </p:blipFill>
        <p:spPr>
          <a:xfrm>
            <a:off x="1682496" y="6046044"/>
            <a:ext cx="793630" cy="734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8921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649038-E67C-F32D-3A4E-49766B9CE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EEE 416 (2022) – Final Project Group A.XY</a:t>
            </a:r>
            <a:endParaRPr lang="en-B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079AD-4F4B-2A08-E54B-560665B9A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BD"/>
              <a:t>Title of the Project</a:t>
            </a:r>
            <a:endParaRPr lang="en-B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BC4AE-B903-2951-368D-1CD59AE1F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9D53-9981-884B-B5B6-B5743DF81FD1}" type="slidenum">
              <a:rPr lang="en-BD" smtClean="0"/>
              <a:pPr/>
              <a:t>‹#›</a:t>
            </a:fld>
            <a:endParaRPr lang="en-BD" dirty="0"/>
          </a:p>
        </p:txBody>
      </p:sp>
    </p:spTree>
    <p:extLst>
      <p:ext uri="{BB962C8B-B14F-4D97-AF65-F5344CB8AC3E}">
        <p14:creationId xmlns:p14="http://schemas.microsoft.com/office/powerpoint/2010/main" val="3219430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9D53-9981-884B-B5B6-B5743DF81FD1}" type="slidenum">
              <a:rPr lang="en-BD" smtClean="0"/>
              <a:t>‹#›</a:t>
            </a:fld>
            <a:endParaRPr lang="en-BD"/>
          </a:p>
        </p:txBody>
      </p:sp>
      <p:sp>
        <p:nvSpPr>
          <p:cNvPr id="9" name="Date Placeholder 5">
            <a:extLst>
              <a:ext uri="{FF2B5EF4-FFF2-40B4-BE49-F238E27FC236}">
                <a16:creationId xmlns:a16="http://schemas.microsoft.com/office/drawing/2014/main" id="{7A532869-E847-B04C-9454-B1BBC68D6D5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/>
              <a:t>EEE 416 (2022) – Final Project Group A.XY</a:t>
            </a:r>
            <a:endParaRPr lang="en-BD" dirty="0"/>
          </a:p>
        </p:txBody>
      </p:sp>
      <p:sp>
        <p:nvSpPr>
          <p:cNvPr id="10" name="Footer Placeholder 6">
            <a:extLst>
              <a:ext uri="{FF2B5EF4-FFF2-40B4-BE49-F238E27FC236}">
                <a16:creationId xmlns:a16="http://schemas.microsoft.com/office/drawing/2014/main" id="{39C3B094-71D1-654C-855E-07B8BFC1B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en-BD" dirty="0"/>
              <a:t>Title of the Project</a:t>
            </a:r>
          </a:p>
        </p:txBody>
      </p:sp>
    </p:spTree>
    <p:extLst>
      <p:ext uri="{BB962C8B-B14F-4D97-AF65-F5344CB8AC3E}">
        <p14:creationId xmlns:p14="http://schemas.microsoft.com/office/powerpoint/2010/main" val="4237455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9D53-9981-884B-B5B6-B5743DF81FD1}" type="slidenum">
              <a:rPr lang="en-BD" smtClean="0"/>
              <a:t>‹#›</a:t>
            </a:fld>
            <a:endParaRPr lang="en-BD"/>
          </a:p>
        </p:txBody>
      </p:sp>
      <p:sp>
        <p:nvSpPr>
          <p:cNvPr id="10" name="Date Placeholder 5">
            <a:extLst>
              <a:ext uri="{FF2B5EF4-FFF2-40B4-BE49-F238E27FC236}">
                <a16:creationId xmlns:a16="http://schemas.microsoft.com/office/drawing/2014/main" id="{3AA596F9-6385-224E-8B6A-509678335D1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/>
              <a:t>EEE 416 (2022) – Final Project Group A.XY</a:t>
            </a:r>
            <a:endParaRPr lang="en-BD" dirty="0"/>
          </a:p>
        </p:txBody>
      </p:sp>
      <p:sp>
        <p:nvSpPr>
          <p:cNvPr id="11" name="Footer Placeholder 6">
            <a:extLst>
              <a:ext uri="{FF2B5EF4-FFF2-40B4-BE49-F238E27FC236}">
                <a16:creationId xmlns:a16="http://schemas.microsoft.com/office/drawing/2014/main" id="{1CB05F73-B36B-5A48-81EA-E76B13575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en-BD" dirty="0"/>
              <a:t>Title of the Project</a:t>
            </a:r>
          </a:p>
        </p:txBody>
      </p:sp>
    </p:spTree>
    <p:extLst>
      <p:ext uri="{BB962C8B-B14F-4D97-AF65-F5344CB8AC3E}">
        <p14:creationId xmlns:p14="http://schemas.microsoft.com/office/powerpoint/2010/main" val="3184022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9D53-9981-884B-B5B6-B5743DF81FD1}" type="slidenum">
              <a:rPr lang="en-BD" smtClean="0"/>
              <a:t>‹#›</a:t>
            </a:fld>
            <a:endParaRPr lang="en-BD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4A8BE3A-860F-304A-9628-0D1C6721E98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/>
              <a:t>EEE 416 (2022) – Final Project Group A.XY</a:t>
            </a:r>
            <a:endParaRPr lang="en-BD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8BF763A-9E9F-6745-958E-87128C40B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en-BD" dirty="0"/>
              <a:t>Title of the Project</a:t>
            </a:r>
          </a:p>
        </p:txBody>
      </p:sp>
    </p:spTree>
    <p:extLst>
      <p:ext uri="{BB962C8B-B14F-4D97-AF65-F5344CB8AC3E}">
        <p14:creationId xmlns:p14="http://schemas.microsoft.com/office/powerpoint/2010/main" val="1448220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9D53-9981-884B-B5B6-B5743DF81FD1}" type="slidenum">
              <a:rPr lang="en-BD" smtClean="0"/>
              <a:t>‹#›</a:t>
            </a:fld>
            <a:endParaRPr lang="en-BD"/>
          </a:p>
        </p:txBody>
      </p:sp>
      <p:sp>
        <p:nvSpPr>
          <p:cNvPr id="5" name="Date Placeholder 5">
            <a:extLst>
              <a:ext uri="{FF2B5EF4-FFF2-40B4-BE49-F238E27FC236}">
                <a16:creationId xmlns:a16="http://schemas.microsoft.com/office/drawing/2014/main" id="{7E522AF0-01E9-C04B-A4BD-1E790BA6B07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/>
              <a:t>EEE 416 (2022) – Final Project Group A.XY</a:t>
            </a:r>
            <a:endParaRPr lang="en-BD" dirty="0"/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6FE88DDB-FE65-5846-A692-EED395E9C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en-BD" dirty="0"/>
              <a:t>Title of the Project</a:t>
            </a:r>
          </a:p>
        </p:txBody>
      </p:sp>
    </p:spTree>
    <p:extLst>
      <p:ext uri="{BB962C8B-B14F-4D97-AF65-F5344CB8AC3E}">
        <p14:creationId xmlns:p14="http://schemas.microsoft.com/office/powerpoint/2010/main" val="3970478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852ED7D-C8C9-FC45-9D41-2B197068D5F8}"/>
              </a:ext>
            </a:extLst>
          </p:cNvPr>
          <p:cNvSpPr/>
          <p:nvPr userDrawn="1"/>
        </p:nvSpPr>
        <p:spPr>
          <a:xfrm>
            <a:off x="1" y="6457189"/>
            <a:ext cx="12192000" cy="41316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D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459714"/>
            <a:ext cx="10058400" cy="7290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493520"/>
            <a:ext cx="10058400" cy="4541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10950" y="6501638"/>
            <a:ext cx="521970" cy="30853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400" b="1">
                <a:solidFill>
                  <a:schemeClr val="bg1"/>
                </a:solidFill>
              </a:defRPr>
            </a:lvl1pPr>
          </a:lstStyle>
          <a:p>
            <a:fld id="{E9C29D53-9981-884B-B5B6-B5743DF81FD1}" type="slidenum">
              <a:rPr lang="en-BD" smtClean="0"/>
              <a:pPr/>
              <a:t>‹#›</a:t>
            </a:fld>
            <a:endParaRPr lang="en-BD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8D083A58-BF4A-C247-A39E-31621332A2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r="84048"/>
          <a:stretch/>
        </p:blipFill>
        <p:spPr>
          <a:xfrm>
            <a:off x="51125" y="6457189"/>
            <a:ext cx="381361" cy="352979"/>
          </a:xfrm>
          <a:prstGeom prst="rect">
            <a:avLst/>
          </a:prstGeom>
        </p:spPr>
      </p:pic>
      <p:sp>
        <p:nvSpPr>
          <p:cNvPr id="10" name="Date Placeholder 5">
            <a:extLst>
              <a:ext uri="{FF2B5EF4-FFF2-40B4-BE49-F238E27FC236}">
                <a16:creationId xmlns:a16="http://schemas.microsoft.com/office/drawing/2014/main" id="{576C60AE-BF9F-E948-A464-57EC6013BD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32486" y="6501637"/>
            <a:ext cx="3968064" cy="39411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US" dirty="0"/>
              <a:t>EEE </a:t>
            </a:r>
            <a:r>
              <a:rPr lang="en-US" dirty="0" err="1"/>
              <a:t>xyz</a:t>
            </a:r>
            <a:r>
              <a:rPr lang="en-US" dirty="0"/>
              <a:t> (202z) – Final Project Group A.XY</a:t>
            </a:r>
            <a:endParaRPr lang="en-BD" dirty="0"/>
          </a:p>
        </p:txBody>
      </p:sp>
      <p:sp>
        <p:nvSpPr>
          <p:cNvPr id="11" name="Footer Placeholder 6">
            <a:extLst>
              <a:ext uri="{FF2B5EF4-FFF2-40B4-BE49-F238E27FC236}">
                <a16:creationId xmlns:a16="http://schemas.microsoft.com/office/drawing/2014/main" id="{DCD1120D-AD02-624F-AC7B-A52A109ECB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00550" y="6507645"/>
            <a:ext cx="5000625" cy="375412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bg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BD" dirty="0"/>
              <a:t>Title of the Project</a:t>
            </a:r>
          </a:p>
        </p:txBody>
      </p:sp>
    </p:spTree>
    <p:extLst>
      <p:ext uri="{BB962C8B-B14F-4D97-AF65-F5344CB8AC3E}">
        <p14:creationId xmlns:p14="http://schemas.microsoft.com/office/powerpoint/2010/main" val="4155827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3" r:id="rId3"/>
    <p:sldLayoutId id="2147483714" r:id="rId4"/>
    <p:sldLayoutId id="2147483715" r:id="rId5"/>
    <p:sldLayoutId id="2147483716" r:id="rId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4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Arial" panose="020B0604020202020204" pitchFamily="34" charset="0"/>
          <a:ea typeface="+mn-ea"/>
          <a:cs typeface="Arial" panose="020B0604020202020204" pitchFamily="34" charset="0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6C925-AD3C-084C-A393-173805EA7D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443" y="1430589"/>
            <a:ext cx="12185469" cy="1580405"/>
          </a:xfrm>
        </p:spPr>
        <p:txBody>
          <a:bodyPr/>
          <a:lstStyle/>
          <a:p>
            <a:br>
              <a:rPr lang="en-US" sz="1800" b="0" i="0" u="none" strike="noStrike" baseline="0" dirty="0">
                <a:solidFill>
                  <a:srgbClr val="000000"/>
                </a:solidFill>
                <a:latin typeface="Aptos"/>
              </a:rPr>
            </a:br>
            <a:r>
              <a:rPr lang="en-US" sz="1800" b="0" i="0" u="none" strike="noStrike" baseline="0" dirty="0">
                <a:solidFill>
                  <a:srgbClr val="000000"/>
                </a:solidFill>
                <a:latin typeface="Aptos"/>
              </a:rPr>
              <a:t> </a:t>
            </a:r>
            <a:r>
              <a:rPr lang="en-US" sz="4000" b="1" i="0" u="none" strike="noStrike" baseline="0" dirty="0">
                <a:solidFill>
                  <a:srgbClr val="000000"/>
                </a:solidFill>
                <a:latin typeface="Aptos"/>
              </a:rPr>
              <a:t>Design of a CMOS Integer-16 Charge-Pump PLL </a:t>
            </a:r>
            <a:endParaRPr lang="en-BD" sz="4000" cap="none" dirty="0">
              <a:latin typeface="Arial Black" panose="020B0A040201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F0DBAF-7D79-1641-9F57-35E40E2F3C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1228" y="4519342"/>
            <a:ext cx="2350475" cy="885432"/>
          </a:xfrm>
        </p:spPr>
        <p:txBody>
          <a:bodyPr/>
          <a:lstStyle/>
          <a:p>
            <a:r>
              <a:rPr lang="en-US" sz="1200" dirty="0" err="1"/>
              <a:t>Tahmid</a:t>
            </a:r>
            <a:r>
              <a:rPr lang="en-US" sz="1200" dirty="0"/>
              <a:t> </a:t>
            </a:r>
            <a:r>
              <a:rPr lang="en-US" sz="1200" dirty="0" err="1"/>
              <a:t>Adib</a:t>
            </a:r>
            <a:endParaRPr lang="en-BD" sz="1200" dirty="0"/>
          </a:p>
          <a:p>
            <a:r>
              <a:rPr lang="en-US" sz="2000" dirty="0"/>
              <a:t>2106089</a:t>
            </a:r>
            <a:endParaRPr lang="en-BD" sz="2000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3D65FC9-0D80-444D-8239-028EF0E63ED0}"/>
              </a:ext>
            </a:extLst>
          </p:cNvPr>
          <p:cNvSpPr txBox="1">
            <a:spLocks/>
          </p:cNvSpPr>
          <p:nvPr/>
        </p:nvSpPr>
        <p:spPr>
          <a:xfrm>
            <a:off x="3771703" y="4519342"/>
            <a:ext cx="2350475" cy="8854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 spc="8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 err="1"/>
              <a:t>Jafrin</a:t>
            </a:r>
            <a:r>
              <a:rPr lang="en-US" sz="1200" dirty="0"/>
              <a:t> </a:t>
            </a:r>
            <a:r>
              <a:rPr lang="en-US" sz="1200" dirty="0" err="1"/>
              <a:t>Rubayet</a:t>
            </a:r>
            <a:r>
              <a:rPr lang="en-US" sz="1200" dirty="0"/>
              <a:t> Seme</a:t>
            </a:r>
            <a:endParaRPr lang="en-BD" sz="1200" dirty="0"/>
          </a:p>
          <a:p>
            <a:r>
              <a:rPr lang="en-US" sz="2000" dirty="0"/>
              <a:t>2106150</a:t>
            </a:r>
            <a:endParaRPr lang="en-BD" sz="2000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C185C57D-A765-0B46-AE76-AD4244F426AB}"/>
              </a:ext>
            </a:extLst>
          </p:cNvPr>
          <p:cNvSpPr txBox="1">
            <a:spLocks/>
          </p:cNvSpPr>
          <p:nvPr/>
        </p:nvSpPr>
        <p:spPr>
          <a:xfrm>
            <a:off x="6096000" y="4519342"/>
            <a:ext cx="2350475" cy="8854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 spc="8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/>
              <a:t>Mushfiqur Rahman</a:t>
            </a:r>
            <a:endParaRPr lang="en-BD" sz="1200" dirty="0"/>
          </a:p>
          <a:p>
            <a:r>
              <a:rPr lang="en-US" sz="2000" dirty="0"/>
              <a:t>2106181</a:t>
            </a:r>
            <a:endParaRPr lang="en-BD" sz="2000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7A885CF-D2B7-2D4F-9C5B-F2B757DB520C}"/>
              </a:ext>
            </a:extLst>
          </p:cNvPr>
          <p:cNvSpPr txBox="1">
            <a:spLocks/>
          </p:cNvSpPr>
          <p:nvPr/>
        </p:nvSpPr>
        <p:spPr>
          <a:xfrm>
            <a:off x="8472653" y="4519342"/>
            <a:ext cx="2350475" cy="8854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 spc="8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 err="1"/>
              <a:t>Chayan</a:t>
            </a:r>
            <a:r>
              <a:rPr lang="en-US" sz="1200" dirty="0"/>
              <a:t> Paul</a:t>
            </a:r>
            <a:endParaRPr lang="en-BD" sz="1200" dirty="0"/>
          </a:p>
          <a:p>
            <a:r>
              <a:rPr lang="en-US" sz="2000" dirty="0"/>
              <a:t>2106182</a:t>
            </a:r>
            <a:endParaRPr lang="en-BD" sz="2000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6D4ABD83-8F2E-FD4E-B18C-2299D6E2E152}"/>
              </a:ext>
            </a:extLst>
          </p:cNvPr>
          <p:cNvSpPr txBox="1">
            <a:spLocks/>
          </p:cNvSpPr>
          <p:nvPr/>
        </p:nvSpPr>
        <p:spPr>
          <a:xfrm>
            <a:off x="4884528" y="3554820"/>
            <a:ext cx="3033537" cy="8854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 spc="8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BD" cap="small" dirty="0"/>
              <a:t>Submitted by – Group 03.G2</a:t>
            </a:r>
            <a:endParaRPr lang="en-BD" sz="2800" cap="smal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53E684-5410-4131-A004-4E4D525EED90}"/>
              </a:ext>
            </a:extLst>
          </p:cNvPr>
          <p:cNvSpPr/>
          <p:nvPr/>
        </p:nvSpPr>
        <p:spPr>
          <a:xfrm>
            <a:off x="6532" y="0"/>
            <a:ext cx="12185468" cy="1549583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8E6C54D4-779E-47BA-B45A-710FCE32783D}"/>
              </a:ext>
            </a:extLst>
          </p:cNvPr>
          <p:cNvSpPr txBox="1">
            <a:spLocks/>
          </p:cNvSpPr>
          <p:nvPr/>
        </p:nvSpPr>
        <p:spPr>
          <a:xfrm>
            <a:off x="2579210" y="87125"/>
            <a:ext cx="7270377" cy="12183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 spc="8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cap="small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EEE 466 – Analog Integrated Circuit</a:t>
            </a:r>
            <a:br>
              <a:rPr lang="en-US" sz="2800" b="1" cap="small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cap="small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Jan 2026 Level-4 Term-1 Section G2</a:t>
            </a:r>
            <a:br>
              <a:rPr lang="en-US" sz="2800" b="1" cap="small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cap="small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project Demonstration</a:t>
            </a:r>
            <a:endParaRPr lang="en-BD" sz="2800" b="1" cap="small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8246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3012B-84B9-7349-A96C-D843A3695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5899E-188D-E346-BD75-A52C25C2CF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BD" dirty="0"/>
              <a:t>Summary</a:t>
            </a:r>
          </a:p>
          <a:p>
            <a:pPr marL="457200" indent="-457200">
              <a:buFont typeface="+mj-lt"/>
              <a:buAutoNum type="arabicPeriod"/>
            </a:pPr>
            <a:r>
              <a:rPr lang="en-BD" dirty="0"/>
              <a:t>Introduction</a:t>
            </a:r>
          </a:p>
          <a:p>
            <a:pPr marL="457200" indent="-457200">
              <a:buFont typeface="+mj-lt"/>
              <a:buAutoNum type="arabicPeriod"/>
            </a:pPr>
            <a:r>
              <a:rPr lang="en-BD" dirty="0"/>
              <a:t>Design</a:t>
            </a:r>
          </a:p>
          <a:p>
            <a:pPr marL="457200" indent="-457200">
              <a:buFont typeface="+mj-lt"/>
              <a:buAutoNum type="arabicPeriod"/>
            </a:pPr>
            <a:r>
              <a:rPr lang="en-BD" dirty="0"/>
              <a:t>Implementation</a:t>
            </a:r>
          </a:p>
          <a:p>
            <a:pPr marL="457200" indent="-457200">
              <a:buFont typeface="+mj-lt"/>
              <a:buAutoNum type="arabicPeriod"/>
            </a:pPr>
            <a:r>
              <a:rPr lang="en-BD" dirty="0"/>
              <a:t>Design Analysis and Evaluation</a:t>
            </a:r>
          </a:p>
          <a:p>
            <a:pPr marL="457200" indent="-457200">
              <a:buFont typeface="+mj-lt"/>
              <a:buAutoNum type="arabicPeriod"/>
            </a:pPr>
            <a:r>
              <a:rPr lang="en-BD" dirty="0"/>
              <a:t>Individual Contribution</a:t>
            </a:r>
          </a:p>
          <a:p>
            <a:pPr marL="457200" indent="-457200">
              <a:buFont typeface="+mj-lt"/>
              <a:buAutoNum type="arabicPeriod"/>
            </a:pPr>
            <a:r>
              <a:rPr lang="en-BD" dirty="0"/>
              <a:t>References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016421-CA9E-E344-9555-2F9A2A519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2</a:t>
            </a:fld>
            <a:endParaRPr lang="en-B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4EB6EC-D213-9F48-8356-86C62AC118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56363"/>
          </a:xfrm>
        </p:spPr>
        <p:txBody>
          <a:bodyPr/>
          <a:lstStyle/>
          <a:p>
            <a:r>
              <a:rPr lang="en-US" dirty="0"/>
              <a:t>EEE 466 (2026) – Final Project Group 03.G2</a:t>
            </a:r>
            <a:endParaRPr lang="en-BD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B0E6E-7910-2644-9BBD-C431B66BA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3400000" cy="375412"/>
          </a:xfrm>
        </p:spPr>
        <p:txBody>
          <a:bodyPr/>
          <a:lstStyle/>
          <a:p>
            <a:pPr algn="l"/>
            <a:r>
              <a:rPr lang="en-US" dirty="0"/>
              <a:t>1.2 GHz Charge-Pump PLL</a:t>
            </a: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94FC492C-855C-BBBD-E10E-4FA0A9234E19}"/>
              </a:ext>
            </a:extLst>
          </p:cNvPr>
          <p:cNvSpPr txBox="1"/>
          <p:nvPr/>
        </p:nvSpPr>
        <p:spPr>
          <a:xfrm>
            <a:off x="875000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Group 03.G2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7328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9019EF6-C9F9-8E4B-90AC-5D229CB11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41673"/>
            <a:ext cx="10058400" cy="729006"/>
          </a:xfrm>
        </p:spPr>
        <p:txBody>
          <a:bodyPr>
            <a:normAutofit/>
          </a:bodyPr>
          <a:lstStyle/>
          <a:p>
            <a:r>
              <a:rPr lang="en-US" sz="3600" dirty="0"/>
              <a:t>1. Summary</a:t>
            </a:r>
            <a:endParaRPr lang="en-BD" sz="36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29DA07C-0ED1-CC41-B09A-5D684746D6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56363"/>
          </a:xfrm>
        </p:spPr>
        <p:txBody>
          <a:bodyPr/>
          <a:lstStyle/>
          <a:p>
            <a:r>
              <a:rPr lang="en-US"/>
              <a:t>EEE 466 (2026) – Final Project Group 03.G2</a:t>
            </a:r>
            <a:endParaRPr lang="en-BD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62B1C3D-B08D-D14D-A3BD-DCF2567AB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3400000" cy="375412"/>
          </a:xfrm>
        </p:spPr>
        <p:txBody>
          <a:bodyPr/>
          <a:lstStyle/>
          <a:p>
            <a:pPr algn="l"/>
            <a:r>
              <a:rPr lang="en-BD" dirty="0"/>
              <a:t>1.2 GHz Charge-Pump PLL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42F02E1-6859-4149-9453-07F6EB308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3</a:t>
            </a:fld>
            <a:endParaRPr lang="en-BD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FC492C-855C-BBBD-E10E-4FA0A9234E19}"/>
              </a:ext>
            </a:extLst>
          </p:cNvPr>
          <p:cNvSpPr txBox="1"/>
          <p:nvPr/>
        </p:nvSpPr>
        <p:spPr>
          <a:xfrm>
            <a:off x="875000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Group 03.G2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012D90-1A59-4060-8BF6-0CAC4AD1A3D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535" t="3854" r="9343" b="2572"/>
          <a:stretch/>
        </p:blipFill>
        <p:spPr>
          <a:xfrm>
            <a:off x="1491531" y="1634538"/>
            <a:ext cx="9208938" cy="461454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6EA44D2-374A-44C2-BAC6-92DA9FDB07CC}"/>
              </a:ext>
            </a:extLst>
          </p:cNvPr>
          <p:cNvSpPr txBox="1"/>
          <p:nvPr/>
        </p:nvSpPr>
        <p:spPr>
          <a:xfrm>
            <a:off x="1066800" y="797274"/>
            <a:ext cx="74472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Our designed PLL is a type-II, third-order integer-16 charge-pump loop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8554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9019EF6-C9F9-8E4B-90AC-5D229CB11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2. Introduction</a:t>
            </a:r>
            <a:endParaRPr lang="en-BD" sz="36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29DA07C-0ED1-CC41-B09A-5D684746D6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56363"/>
          </a:xfrm>
        </p:spPr>
        <p:txBody>
          <a:bodyPr/>
          <a:lstStyle/>
          <a:p>
            <a:r>
              <a:rPr lang="en-US"/>
              <a:t>EEE 466 (2026) – Final Project Group 03.G2</a:t>
            </a:r>
            <a:endParaRPr lang="en-BD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62B1C3D-B08D-D14D-A3BD-DCF2567AB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3400000" cy="375412"/>
          </a:xfrm>
        </p:spPr>
        <p:txBody>
          <a:bodyPr/>
          <a:lstStyle/>
          <a:p>
            <a:pPr algn="l"/>
            <a:r>
              <a:rPr lang="en-BD" dirty="0"/>
              <a:t>1.2 GHz Charge-Pump PLL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42F02E1-6859-4149-9453-07F6EB308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4</a:t>
            </a:fld>
            <a:endParaRPr lang="en-BD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4113EF-FC58-6A2C-48BE-FBF99C4B1ED7}"/>
              </a:ext>
            </a:extLst>
          </p:cNvPr>
          <p:cNvSpPr txBox="1"/>
          <p:nvPr/>
        </p:nvSpPr>
        <p:spPr>
          <a:xfrm>
            <a:off x="875000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Group 03.G2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69848" y="1234440"/>
            <a:ext cx="10058400" cy="1431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Char char="•"/>
            </a:pPr>
            <a:r>
              <a:rPr sz="1800" dirty="0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Digital and RF chips need a GHz clock, but crystal references run at only tens of </a:t>
            </a:r>
            <a:r>
              <a:rPr sz="1800" dirty="0" err="1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MHz.</a:t>
            </a:r>
            <a:endParaRPr sz="1800" dirty="0">
              <a:solidFill>
                <a:srgbClr val="26262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Aft>
                <a:spcPts val="600"/>
              </a:spcAft>
              <a:buChar char="•"/>
            </a:pPr>
            <a:r>
              <a:rPr sz="1800" dirty="0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Phase-Locked Loop (PLL) multiplies the reference up to a high, phase-locked clock.</a:t>
            </a:r>
          </a:p>
          <a:p>
            <a:pPr marL="285750" indent="-285750">
              <a:spcAft>
                <a:spcPts val="600"/>
              </a:spcAft>
              <a:buChar char="•"/>
            </a:pPr>
            <a:r>
              <a:rPr sz="1800" dirty="0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Our target: a </a:t>
            </a:r>
            <a:r>
              <a:rPr sz="1800" b="1" dirty="0">
                <a:latin typeface="Arial" panose="020B0604020202020204" pitchFamily="34" charset="0"/>
                <a:cs typeface="Arial" panose="020B0604020202020204" pitchFamily="34" charset="0"/>
              </a:rPr>
              <a:t>1.20 GHz clock synthesizer (×16 from 75 MHz)</a:t>
            </a:r>
          </a:p>
          <a:p>
            <a:pPr marL="285750" indent="-285750">
              <a:spcAft>
                <a:spcPts val="600"/>
              </a:spcAft>
              <a:buChar char="•"/>
            </a:pPr>
            <a:r>
              <a:rPr sz="1800" dirty="0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Transistor-level design in GPDK045 (45 nm), VDD = 1.1 V, with DRC/LVS-clean layout.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14600" y="3840480"/>
            <a:ext cx="1417320" cy="68580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 w="190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62626"/>
                </a:solidFill>
              </a:rPr>
              <a:t>PFD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3840480"/>
            <a:ext cx="1417320" cy="68580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 w="190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62626"/>
                </a:solidFill>
              </a:rPr>
              <a:t>Charge</a:t>
            </a:r>
          </a:p>
          <a:p>
            <a:pPr algn="ctr"/>
            <a:r>
              <a:rPr sz="1600" b="1">
                <a:solidFill>
                  <a:srgbClr val="262626"/>
                </a:solidFill>
              </a:rPr>
              <a:t>Pump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840480"/>
            <a:ext cx="1417320" cy="68580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 w="190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62626"/>
                </a:solidFill>
              </a:rPr>
              <a:t>Loop</a:t>
            </a:r>
          </a:p>
          <a:p>
            <a:pPr algn="ctr"/>
            <a:r>
              <a:rPr sz="1600" b="1">
                <a:solidFill>
                  <a:srgbClr val="262626"/>
                </a:solidFill>
              </a:rPr>
              <a:t>Filter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3840480"/>
            <a:ext cx="1417320" cy="68580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 w="190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62626"/>
                </a:solidFill>
              </a:rPr>
              <a:t>VCO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8432" y="3799332"/>
            <a:ext cx="1460656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dirty="0" err="1"/>
              <a:t>f_ref</a:t>
            </a:r>
            <a:r>
              <a:rPr sz="1500" b="1" dirty="0"/>
              <a:t> = 75 MHz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8680" y="4183380"/>
            <a:ext cx="1645920" cy="0"/>
          </a:xfrm>
          <a:prstGeom prst="line">
            <a:avLst/>
          </a:prstGeom>
          <a:ln w="22225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931920" y="4183380"/>
            <a:ext cx="411480" cy="0"/>
          </a:xfrm>
          <a:prstGeom prst="line">
            <a:avLst/>
          </a:prstGeom>
          <a:ln w="22225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760720" y="4183380"/>
            <a:ext cx="411480" cy="0"/>
          </a:xfrm>
          <a:prstGeom prst="line">
            <a:avLst/>
          </a:prstGeom>
          <a:ln w="22225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589520" y="4183380"/>
            <a:ext cx="411480" cy="0"/>
          </a:xfrm>
          <a:prstGeom prst="line">
            <a:avLst/>
          </a:prstGeom>
          <a:ln w="22225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418320" y="4183380"/>
            <a:ext cx="2011680" cy="0"/>
          </a:xfrm>
          <a:prstGeom prst="line">
            <a:avLst/>
          </a:prstGeom>
          <a:ln w="22225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921239" y="3799332"/>
            <a:ext cx="173735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f_out</a:t>
            </a:r>
            <a:r>
              <a:rPr sz="1500" b="1" dirty="0">
                <a:latin typeface="Arial" panose="020B0604020202020204" pitchFamily="34" charset="0"/>
                <a:cs typeface="Arial" panose="020B0604020202020204" pitchFamily="34" charset="0"/>
              </a:rPr>
              <a:t> = 1.20 GHz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77840" y="4983480"/>
            <a:ext cx="1737360" cy="54864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 w="190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62626"/>
                </a:solidFill>
              </a:rPr>
              <a:t>÷16 Divider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829800" y="4183380"/>
            <a:ext cx="0" cy="1074420"/>
          </a:xfrm>
          <a:prstGeom prst="line">
            <a:avLst/>
          </a:prstGeom>
          <a:ln w="22225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7315200" y="5257800"/>
            <a:ext cx="2514600" cy="0"/>
          </a:xfrm>
          <a:prstGeom prst="line">
            <a:avLst/>
          </a:prstGeom>
          <a:ln w="22225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3223260" y="5257800"/>
            <a:ext cx="2354580" cy="0"/>
          </a:xfrm>
          <a:prstGeom prst="line">
            <a:avLst/>
          </a:prstGeom>
          <a:ln w="22225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223260" y="4526280"/>
            <a:ext cx="0" cy="731520"/>
          </a:xfrm>
          <a:prstGeom prst="line">
            <a:avLst/>
          </a:prstGeom>
          <a:ln w="22225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9774936" y="4128516"/>
            <a:ext cx="109728" cy="109728"/>
          </a:xfrm>
          <a:prstGeom prst="ellipse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404288" y="5254279"/>
            <a:ext cx="169629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75 MHz (feedback)</a:t>
            </a:r>
          </a:p>
        </p:txBody>
      </p:sp>
    </p:spTree>
    <p:extLst>
      <p:ext uri="{BB962C8B-B14F-4D97-AF65-F5344CB8AC3E}">
        <p14:creationId xmlns:p14="http://schemas.microsoft.com/office/powerpoint/2010/main" val="1635266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65BEC-A1DF-DB49-B707-F4003CEA7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3.1 Design: </a:t>
            </a:r>
            <a:r>
              <a:rPr lang="en-GB" dirty="0"/>
              <a:t>Problem Formulation</a:t>
            </a:r>
            <a:endParaRPr lang="en-B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FAFD4-E2E1-B948-84C7-28DD8B57F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5</a:t>
            </a:fld>
            <a:endParaRPr lang="en-BD"/>
          </a:p>
        </p:txBody>
      </p:sp>
      <p:sp>
        <p:nvSpPr>
          <p:cNvPr id="7" name="Date Placeholder 5">
            <a:extLst>
              <a:ext uri="{FF2B5EF4-FFF2-40B4-BE49-F238E27FC236}">
                <a16:creationId xmlns:a16="http://schemas.microsoft.com/office/drawing/2014/main" id="{BFD6422F-12DA-8A45-9AF9-8BFCA12E4A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56363"/>
          </a:xfrm>
        </p:spPr>
        <p:txBody>
          <a:bodyPr/>
          <a:lstStyle/>
          <a:p>
            <a:r>
              <a:rPr lang="en-US"/>
              <a:t>EEE 466 (2026) – Final Project Group 03.G2</a:t>
            </a:r>
            <a:endParaRPr lang="en-BD" dirty="0"/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82DF7523-28E5-1646-96D1-1E49DDA95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3400000" cy="375412"/>
          </a:xfrm>
        </p:spPr>
        <p:txBody>
          <a:bodyPr/>
          <a:lstStyle/>
          <a:p>
            <a:pPr algn="l"/>
            <a:r>
              <a:rPr lang="en-BD" dirty="0"/>
              <a:t>1.2 GHz Charge-Pump PLL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D98CFC-581F-2C4F-57A4-5892CF555A9A}"/>
              </a:ext>
            </a:extLst>
          </p:cNvPr>
          <p:cNvSpPr txBox="1"/>
          <p:nvPr/>
        </p:nvSpPr>
        <p:spPr>
          <a:xfrm>
            <a:off x="875000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Group 03.G2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8F085C8-BD3D-5640-EC75-0BCC5129C060}"/>
              </a:ext>
            </a:extLst>
          </p:cNvPr>
          <p:cNvSpPr txBox="1">
            <a:spLocks/>
          </p:cNvSpPr>
          <p:nvPr/>
        </p:nvSpPr>
        <p:spPr>
          <a:xfrm>
            <a:off x="1066800" y="1057516"/>
            <a:ext cx="10058400" cy="7290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GB" sz="3600" b="1" dirty="0"/>
              <a:t>3.1.1 Required Specification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1B30C7F-55BE-4358-B87C-AB8DBCB2764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816"/>
          <a:stretch/>
        </p:blipFill>
        <p:spPr>
          <a:xfrm>
            <a:off x="1901456" y="1786522"/>
            <a:ext cx="8291415" cy="4523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869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65BEC-A1DF-DB49-B707-F4003CEA7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3.1 Design: </a:t>
            </a:r>
            <a:r>
              <a:rPr lang="en-GB" dirty="0"/>
              <a:t>Problem Formulation</a:t>
            </a:r>
            <a:endParaRPr lang="en-B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FAFD4-E2E1-B948-84C7-28DD8B57F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6</a:t>
            </a:fld>
            <a:endParaRPr lang="en-BD"/>
          </a:p>
        </p:txBody>
      </p:sp>
      <p:sp>
        <p:nvSpPr>
          <p:cNvPr id="7" name="Date Placeholder 5">
            <a:extLst>
              <a:ext uri="{FF2B5EF4-FFF2-40B4-BE49-F238E27FC236}">
                <a16:creationId xmlns:a16="http://schemas.microsoft.com/office/drawing/2014/main" id="{BFD6422F-12DA-8A45-9AF9-8BFCA12E4A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56363"/>
          </a:xfrm>
        </p:spPr>
        <p:txBody>
          <a:bodyPr/>
          <a:lstStyle/>
          <a:p>
            <a:r>
              <a:rPr lang="en-US"/>
              <a:t>EEE 466 (2026) – Final Project Group 03.G2</a:t>
            </a:r>
            <a:endParaRPr lang="en-BD" dirty="0"/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82DF7523-28E5-1646-96D1-1E49DDA95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3400000" cy="375412"/>
          </a:xfrm>
        </p:spPr>
        <p:txBody>
          <a:bodyPr/>
          <a:lstStyle/>
          <a:p>
            <a:pPr algn="l"/>
            <a:r>
              <a:rPr lang="en-BD" dirty="0"/>
              <a:t>1.2 GHz Charge-Pump PLL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D98CFC-581F-2C4F-57A4-5892CF555A9A}"/>
              </a:ext>
            </a:extLst>
          </p:cNvPr>
          <p:cNvSpPr txBox="1"/>
          <p:nvPr/>
        </p:nvSpPr>
        <p:spPr>
          <a:xfrm>
            <a:off x="875000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Group 03.G2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8F085C8-BD3D-5640-EC75-0BCC5129C060}"/>
              </a:ext>
            </a:extLst>
          </p:cNvPr>
          <p:cNvSpPr txBox="1">
            <a:spLocks/>
          </p:cNvSpPr>
          <p:nvPr/>
        </p:nvSpPr>
        <p:spPr>
          <a:xfrm>
            <a:off x="1066800" y="1057516"/>
            <a:ext cx="10058400" cy="7290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GB" sz="3600" b="1" dirty="0"/>
              <a:t>3.1.2 Formulation of Problem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25F4DB-F863-48EB-9C9D-24A162D65B20}"/>
              </a:ext>
            </a:extLst>
          </p:cNvPr>
          <p:cNvSpPr txBox="1"/>
          <p:nvPr/>
        </p:nvSpPr>
        <p:spPr>
          <a:xfrm>
            <a:off x="730680" y="1817335"/>
            <a:ext cx="1073064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Phase Frequency Detector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– Design a </a:t>
            </a:r>
            <a:r>
              <a:rPr lang="en-US" sz="1800" b="0" dirty="0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Tri-state PFD (2 D flip-flops + reset), free of dead zone</a:t>
            </a:r>
          </a:p>
          <a:p>
            <a:endParaRPr lang="en-US" sz="1800" b="0" dirty="0">
              <a:solidFill>
                <a:srgbClr val="26262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Charge Pump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– Design a </a:t>
            </a:r>
            <a:r>
              <a:rPr lang="en-US" sz="1800" b="0" dirty="0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switched PMOS (UP) and NMOS (DN) current source with I_CP = 50 µA; UP/DN mismatch ≤ 5 % for </a:t>
            </a:r>
            <a:r>
              <a:rPr lang="en-US" sz="1800" b="0" dirty="0" err="1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Vctrl</a:t>
            </a:r>
            <a:r>
              <a:rPr lang="en-US" sz="1800" b="0" dirty="0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0.2–0.9 V</a:t>
            </a:r>
          </a:p>
          <a:p>
            <a:endParaRPr lang="en-US" sz="1800" b="0" dirty="0">
              <a:solidFill>
                <a:srgbClr val="26262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800" b="0" dirty="0">
              <a:solidFill>
                <a:srgbClr val="26262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Voltage Controlled Oscillator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US" sz="1800" b="0" dirty="0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Single-ended 7-stage current-starved ring oscillator with frequency range 900 MHz – 1.50 GHz (±25 %), and K_VCO = 750 MHz/V</a:t>
            </a:r>
          </a:p>
          <a:p>
            <a:endParaRPr lang="en-US" sz="1800" b="0" dirty="0">
              <a:solidFill>
                <a:srgbClr val="26262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solidFill>
                <a:srgbClr val="26262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b="1" dirty="0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Frequency Divider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US" sz="1800" b="0" dirty="0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Chain of 4 divide-by-2 D flip-flops (2⁴ = 16)</a:t>
            </a:r>
          </a:p>
          <a:p>
            <a:endParaRPr lang="en-US" sz="1800" b="0" dirty="0">
              <a:solidFill>
                <a:srgbClr val="26262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800" b="0" dirty="0">
              <a:solidFill>
                <a:srgbClr val="26262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 Filter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– passive 2nd-order loop filter</a:t>
            </a:r>
            <a:endParaRPr lang="en-US" sz="1800" b="0" dirty="0">
              <a:solidFill>
                <a:srgbClr val="26262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32486" y="6090000"/>
            <a:ext cx="82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404040"/>
                </a:solidFill>
                <a:latin typeface="Arial"/>
              </a:rPr>
              <a:t>Architecture and loop design approach: [1], [2]</a:t>
            </a:r>
          </a:p>
        </p:txBody>
      </p:sp>
    </p:spTree>
    <p:extLst>
      <p:ext uri="{BB962C8B-B14F-4D97-AF65-F5344CB8AC3E}">
        <p14:creationId xmlns:p14="http://schemas.microsoft.com/office/powerpoint/2010/main" val="10016872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65BEC-A1DF-DB49-B707-F4003CEA7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27087"/>
            <a:ext cx="10058400" cy="729006"/>
          </a:xfrm>
        </p:spPr>
        <p:txBody>
          <a:bodyPr>
            <a:normAutofit/>
          </a:bodyPr>
          <a:lstStyle/>
          <a:p>
            <a:r>
              <a:rPr lang="en-US" sz="3600" dirty="0"/>
              <a:t>3.2 Design Methods</a:t>
            </a:r>
            <a:endParaRPr lang="en-BD" sz="3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FAFD4-E2E1-B948-84C7-28DD8B57F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7</a:t>
            </a:fld>
            <a:endParaRPr lang="en-BD"/>
          </a:p>
        </p:txBody>
      </p:sp>
      <p:sp>
        <p:nvSpPr>
          <p:cNvPr id="7" name="Date Placeholder 5">
            <a:extLst>
              <a:ext uri="{FF2B5EF4-FFF2-40B4-BE49-F238E27FC236}">
                <a16:creationId xmlns:a16="http://schemas.microsoft.com/office/drawing/2014/main" id="{BFD6422F-12DA-8A45-9AF9-8BFCA12E4A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56363"/>
          </a:xfrm>
        </p:spPr>
        <p:txBody>
          <a:bodyPr/>
          <a:lstStyle/>
          <a:p>
            <a:r>
              <a:rPr lang="en-US"/>
              <a:t>EEE 466 (2026) – Final Project Group 03.G2</a:t>
            </a:r>
            <a:endParaRPr lang="en-BD" dirty="0"/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82DF7523-28E5-1646-96D1-1E49DDA95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3400000" cy="375412"/>
          </a:xfrm>
        </p:spPr>
        <p:txBody>
          <a:bodyPr/>
          <a:lstStyle/>
          <a:p>
            <a:pPr algn="l"/>
            <a:r>
              <a:rPr lang="en-BD" dirty="0"/>
              <a:t>1.2 GHz Charge-Pump PLL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D98CFC-581F-2C4F-57A4-5892CF555A9A}"/>
              </a:ext>
            </a:extLst>
          </p:cNvPr>
          <p:cNvSpPr txBox="1"/>
          <p:nvPr/>
        </p:nvSpPr>
        <p:spPr>
          <a:xfrm>
            <a:off x="875000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Group 03.G2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B032072-7033-4376-B23B-917DBD9334C0}"/>
              </a:ext>
            </a:extLst>
          </p:cNvPr>
          <p:cNvSpPr txBox="1">
            <a:spLocks/>
          </p:cNvSpPr>
          <p:nvPr/>
        </p:nvSpPr>
        <p:spPr>
          <a:xfrm>
            <a:off x="1066800" y="824889"/>
            <a:ext cx="10058400" cy="7290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GB" sz="2800" b="1" dirty="0"/>
              <a:t>3.2.1 Phase Frequency Detector (PFD)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96F1D1-1C76-4A03-8AF4-7BE2CF2831F7}"/>
              </a:ext>
            </a:extLst>
          </p:cNvPr>
          <p:cNvSpPr txBox="1"/>
          <p:nvPr/>
        </p:nvSpPr>
        <p:spPr>
          <a:xfrm>
            <a:off x="1066800" y="1629021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Schematic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B2D5C73-6476-444F-A07B-4CFBDF8942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500" t="3723" r="13235" b="4042"/>
          <a:stretch/>
        </p:blipFill>
        <p:spPr>
          <a:xfrm>
            <a:off x="2405628" y="1748117"/>
            <a:ext cx="7840350" cy="4575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175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65BEC-A1DF-DB49-B707-F4003CEA7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27087"/>
            <a:ext cx="10058400" cy="729006"/>
          </a:xfrm>
        </p:spPr>
        <p:txBody>
          <a:bodyPr>
            <a:normAutofit/>
          </a:bodyPr>
          <a:lstStyle/>
          <a:p>
            <a:r>
              <a:rPr lang="en-US" sz="3600" dirty="0"/>
              <a:t>3.2 Design Methods</a:t>
            </a:r>
            <a:endParaRPr lang="en-BD" sz="3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FAFD4-E2E1-B948-84C7-28DD8B57F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8</a:t>
            </a:fld>
            <a:endParaRPr lang="en-BD"/>
          </a:p>
        </p:txBody>
      </p:sp>
      <p:sp>
        <p:nvSpPr>
          <p:cNvPr id="7" name="Date Placeholder 5">
            <a:extLst>
              <a:ext uri="{FF2B5EF4-FFF2-40B4-BE49-F238E27FC236}">
                <a16:creationId xmlns:a16="http://schemas.microsoft.com/office/drawing/2014/main" id="{BFD6422F-12DA-8A45-9AF9-8BFCA12E4A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56363"/>
          </a:xfrm>
        </p:spPr>
        <p:txBody>
          <a:bodyPr/>
          <a:lstStyle/>
          <a:p>
            <a:r>
              <a:rPr lang="en-US"/>
              <a:t>EEE 466 (2026) – Final Project Group 03.G2</a:t>
            </a:r>
            <a:endParaRPr lang="en-BD" dirty="0"/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82DF7523-28E5-1646-96D1-1E49DDA95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3400000" cy="375412"/>
          </a:xfrm>
        </p:spPr>
        <p:txBody>
          <a:bodyPr/>
          <a:lstStyle/>
          <a:p>
            <a:pPr algn="l"/>
            <a:r>
              <a:rPr lang="en-BD" dirty="0"/>
              <a:t>1.2 GHz Charge-Pump PLL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D98CFC-581F-2C4F-57A4-5892CF555A9A}"/>
              </a:ext>
            </a:extLst>
          </p:cNvPr>
          <p:cNvSpPr txBox="1"/>
          <p:nvPr/>
        </p:nvSpPr>
        <p:spPr>
          <a:xfrm>
            <a:off x="875000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Group 03.G2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B032072-7033-4376-B23B-917DBD9334C0}"/>
              </a:ext>
            </a:extLst>
          </p:cNvPr>
          <p:cNvSpPr txBox="1">
            <a:spLocks/>
          </p:cNvSpPr>
          <p:nvPr/>
        </p:nvSpPr>
        <p:spPr>
          <a:xfrm>
            <a:off x="1066800" y="824889"/>
            <a:ext cx="10058400" cy="7290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GB" sz="2800" b="1" dirty="0"/>
              <a:t>3.2.1 Phase Frequency Detector (PFD)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96F1D1-1C76-4A03-8AF4-7BE2CF2831F7}"/>
              </a:ext>
            </a:extLst>
          </p:cNvPr>
          <p:cNvSpPr txBox="1"/>
          <p:nvPr/>
        </p:nvSpPr>
        <p:spPr>
          <a:xfrm>
            <a:off x="1066800" y="1629021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Layout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46195B-41A5-4B3D-A4C0-63933E5E6521}"/>
              </a:ext>
            </a:extLst>
          </p:cNvPr>
          <p:cNvSpPr txBox="1"/>
          <p:nvPr/>
        </p:nvSpPr>
        <p:spPr>
          <a:xfrm>
            <a:off x="8875058" y="2956089"/>
            <a:ext cx="335632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Width – 109 µm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Height – 99.395 µm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Area = 10,834 µm²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  = 0.01083 mm²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1A3D83F-FD46-4CD2-8090-511CAEAAC41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634"/>
          <a:stretch/>
        </p:blipFill>
        <p:spPr>
          <a:xfrm>
            <a:off x="2430098" y="1998353"/>
            <a:ext cx="5395428" cy="4185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9874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65BEC-A1DF-DB49-B707-F4003CEA7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27087"/>
            <a:ext cx="10058400" cy="729006"/>
          </a:xfrm>
        </p:spPr>
        <p:txBody>
          <a:bodyPr>
            <a:normAutofit/>
          </a:bodyPr>
          <a:lstStyle/>
          <a:p>
            <a:r>
              <a:rPr lang="en-US" sz="3600" dirty="0"/>
              <a:t>3.2 Design Methods</a:t>
            </a:r>
            <a:endParaRPr lang="en-BD" sz="3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FAFD4-E2E1-B948-84C7-28DD8B57F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9</a:t>
            </a:fld>
            <a:endParaRPr lang="en-BD"/>
          </a:p>
        </p:txBody>
      </p:sp>
      <p:sp>
        <p:nvSpPr>
          <p:cNvPr id="7" name="Date Placeholder 5">
            <a:extLst>
              <a:ext uri="{FF2B5EF4-FFF2-40B4-BE49-F238E27FC236}">
                <a16:creationId xmlns:a16="http://schemas.microsoft.com/office/drawing/2014/main" id="{BFD6422F-12DA-8A45-9AF9-8BFCA12E4A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56363"/>
          </a:xfrm>
        </p:spPr>
        <p:txBody>
          <a:bodyPr/>
          <a:lstStyle/>
          <a:p>
            <a:r>
              <a:rPr lang="en-US"/>
              <a:t>EEE 466 (2026) – Final Project Group 03.G2</a:t>
            </a:r>
            <a:endParaRPr lang="en-BD" dirty="0"/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82DF7523-28E5-1646-96D1-1E49DDA95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3400000" cy="375412"/>
          </a:xfrm>
        </p:spPr>
        <p:txBody>
          <a:bodyPr/>
          <a:lstStyle/>
          <a:p>
            <a:pPr algn="l"/>
            <a:r>
              <a:rPr lang="en-BD" dirty="0"/>
              <a:t>1.2 GHz Charge-Pump PLL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D98CFC-581F-2C4F-57A4-5892CF555A9A}"/>
              </a:ext>
            </a:extLst>
          </p:cNvPr>
          <p:cNvSpPr txBox="1"/>
          <p:nvPr/>
        </p:nvSpPr>
        <p:spPr>
          <a:xfrm>
            <a:off x="875000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Group 03.G2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B032072-7033-4376-B23B-917DBD9334C0}"/>
              </a:ext>
            </a:extLst>
          </p:cNvPr>
          <p:cNvSpPr txBox="1">
            <a:spLocks/>
          </p:cNvSpPr>
          <p:nvPr/>
        </p:nvSpPr>
        <p:spPr>
          <a:xfrm>
            <a:off x="1066800" y="824889"/>
            <a:ext cx="10058400" cy="7290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GB" sz="2800" b="1" dirty="0"/>
              <a:t>3.2.1 Phase Frequency Detector (PFD)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CD8FC07-A0BC-490D-B925-D8528D149CB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422824" y="1962635"/>
            <a:ext cx="7346352" cy="330921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EF7A048-0E8D-4CD0-B7FB-60BB6A7DBE40}"/>
              </a:ext>
            </a:extLst>
          </p:cNvPr>
          <p:cNvSpPr txBox="1"/>
          <p:nvPr/>
        </p:nvSpPr>
        <p:spPr>
          <a:xfrm>
            <a:off x="1336964" y="1522780"/>
            <a:ext cx="6093228" cy="374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Vrinda" panose="020B0502040204020203" pitchFamily="34" charset="0"/>
              </a:rPr>
              <a:t>Case 1: V_ref leads V_div</a:t>
            </a:r>
            <a:endParaRPr lang="en-US" sz="1800" kern="100">
              <a:effectLst/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159B00-0F2B-449E-A5CD-C425B4D3961D}"/>
              </a:ext>
            </a:extLst>
          </p:cNvPr>
          <p:cNvSpPr txBox="1"/>
          <p:nvPr/>
        </p:nvSpPr>
        <p:spPr>
          <a:xfrm>
            <a:off x="1336964" y="5337629"/>
            <a:ext cx="9500000" cy="67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Vrinda" panose="020B0502040204020203" pitchFamily="34" charset="0"/>
              </a:rPr>
              <a:t>UP rises at the V_ref edge and stays high until the V_div edge resets both flip-flops → V_ctrl rises.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46268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65BEC-A1DF-DB49-B707-F4003CEA7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27087"/>
            <a:ext cx="10058400" cy="729006"/>
          </a:xfrm>
        </p:spPr>
        <p:txBody>
          <a:bodyPr>
            <a:normAutofit/>
          </a:bodyPr>
          <a:lstStyle/>
          <a:p>
            <a:r>
              <a:rPr lang="en-US" sz="3600" dirty="0"/>
              <a:t>3.2 Design Methods</a:t>
            </a:r>
            <a:endParaRPr lang="en-BD" sz="3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FAFD4-E2E1-B948-84C7-28DD8B57F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10</a:t>
            </a:fld>
            <a:endParaRPr lang="en-BD"/>
          </a:p>
        </p:txBody>
      </p:sp>
      <p:sp>
        <p:nvSpPr>
          <p:cNvPr id="7" name="Date Placeholder 5">
            <a:extLst>
              <a:ext uri="{FF2B5EF4-FFF2-40B4-BE49-F238E27FC236}">
                <a16:creationId xmlns:a16="http://schemas.microsoft.com/office/drawing/2014/main" id="{BFD6422F-12DA-8A45-9AF9-8BFCA12E4A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56363"/>
          </a:xfrm>
        </p:spPr>
        <p:txBody>
          <a:bodyPr/>
          <a:lstStyle/>
          <a:p>
            <a:r>
              <a:rPr lang="en-US"/>
              <a:t>EEE 466 (2026) – Final Project Group 03.G2</a:t>
            </a:r>
            <a:endParaRPr lang="en-BD" dirty="0"/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82DF7523-28E5-1646-96D1-1E49DDA95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3400000" cy="375412"/>
          </a:xfrm>
        </p:spPr>
        <p:txBody>
          <a:bodyPr/>
          <a:lstStyle/>
          <a:p>
            <a:pPr algn="l"/>
            <a:r>
              <a:rPr lang="en-BD" dirty="0"/>
              <a:t>1.2 GHz Charge-Pump PLL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D98CFC-581F-2C4F-57A4-5892CF555A9A}"/>
              </a:ext>
            </a:extLst>
          </p:cNvPr>
          <p:cNvSpPr txBox="1"/>
          <p:nvPr/>
        </p:nvSpPr>
        <p:spPr>
          <a:xfrm>
            <a:off x="875000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Group 03.G2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B032072-7033-4376-B23B-917DBD9334C0}"/>
              </a:ext>
            </a:extLst>
          </p:cNvPr>
          <p:cNvSpPr txBox="1">
            <a:spLocks/>
          </p:cNvSpPr>
          <p:nvPr/>
        </p:nvSpPr>
        <p:spPr>
          <a:xfrm>
            <a:off x="1066800" y="824889"/>
            <a:ext cx="10058400" cy="7290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GB" sz="2800" b="1" dirty="0"/>
              <a:t>3.2.1 Phase Frequency Detector (PFD)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F7A048-0E8D-4CD0-B7FB-60BB6A7DBE40}"/>
              </a:ext>
            </a:extLst>
          </p:cNvPr>
          <p:cNvSpPr txBox="1"/>
          <p:nvPr/>
        </p:nvSpPr>
        <p:spPr>
          <a:xfrm>
            <a:off x="1336964" y="1522780"/>
            <a:ext cx="6093228" cy="374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Vrinda" panose="020B0502040204020203" pitchFamily="34" charset="0"/>
              </a:rPr>
              <a:t>Case 2: V_div leads V_ref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159B00-0F2B-449E-A5CD-C425B4D3961D}"/>
              </a:ext>
            </a:extLst>
          </p:cNvPr>
          <p:cNvSpPr txBox="1"/>
          <p:nvPr/>
        </p:nvSpPr>
        <p:spPr>
          <a:xfrm>
            <a:off x="1336964" y="5337629"/>
            <a:ext cx="9500000" cy="67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Vrinda" panose="020B0502040204020203" pitchFamily="34" charset="0"/>
              </a:rPr>
              <a:t>DN rises at the V_div edge and stays high until the V_ref edge resets it → V_ctrl falls.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5311D4D-BB74-4287-8F87-E762033AC12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602006" y="2028414"/>
            <a:ext cx="6987988" cy="3120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7780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65BEC-A1DF-DB49-B707-F4003CEA7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27087"/>
            <a:ext cx="10058400" cy="729006"/>
          </a:xfrm>
        </p:spPr>
        <p:txBody>
          <a:bodyPr>
            <a:normAutofit/>
          </a:bodyPr>
          <a:lstStyle/>
          <a:p>
            <a:r>
              <a:rPr lang="en-US" sz="3600" dirty="0"/>
              <a:t>3.2 Design Methods</a:t>
            </a:r>
            <a:endParaRPr lang="en-BD" sz="3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FAFD4-E2E1-B948-84C7-28DD8B57F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11</a:t>
            </a:fld>
            <a:endParaRPr lang="en-BD"/>
          </a:p>
        </p:txBody>
      </p:sp>
      <p:sp>
        <p:nvSpPr>
          <p:cNvPr id="7" name="Date Placeholder 5">
            <a:extLst>
              <a:ext uri="{FF2B5EF4-FFF2-40B4-BE49-F238E27FC236}">
                <a16:creationId xmlns:a16="http://schemas.microsoft.com/office/drawing/2014/main" id="{BFD6422F-12DA-8A45-9AF9-8BFCA12E4A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56363"/>
          </a:xfrm>
        </p:spPr>
        <p:txBody>
          <a:bodyPr/>
          <a:lstStyle/>
          <a:p>
            <a:r>
              <a:rPr lang="en-US"/>
              <a:t>EEE 466 (2026) – Final Project Group 03.G2</a:t>
            </a:r>
            <a:endParaRPr lang="en-BD" dirty="0"/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82DF7523-28E5-1646-96D1-1E49DDA95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3400000" cy="375412"/>
          </a:xfrm>
        </p:spPr>
        <p:txBody>
          <a:bodyPr/>
          <a:lstStyle/>
          <a:p>
            <a:pPr algn="l"/>
            <a:r>
              <a:rPr lang="en-BD" dirty="0"/>
              <a:t>1.2 GHz Charge-Pump PLL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D98CFC-581F-2C4F-57A4-5892CF555A9A}"/>
              </a:ext>
            </a:extLst>
          </p:cNvPr>
          <p:cNvSpPr txBox="1"/>
          <p:nvPr/>
        </p:nvSpPr>
        <p:spPr>
          <a:xfrm>
            <a:off x="875000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Group 03.G2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B032072-7033-4376-B23B-917DBD9334C0}"/>
              </a:ext>
            </a:extLst>
          </p:cNvPr>
          <p:cNvSpPr txBox="1">
            <a:spLocks/>
          </p:cNvSpPr>
          <p:nvPr/>
        </p:nvSpPr>
        <p:spPr>
          <a:xfrm>
            <a:off x="1066800" y="824889"/>
            <a:ext cx="10058400" cy="7290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GB" sz="2800" b="1" dirty="0"/>
              <a:t>3.2.1 Phase Frequency Detector (PFD)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F7A048-0E8D-4CD0-B7FB-60BB6A7DBE40}"/>
              </a:ext>
            </a:extLst>
          </p:cNvPr>
          <p:cNvSpPr txBox="1"/>
          <p:nvPr/>
        </p:nvSpPr>
        <p:spPr>
          <a:xfrm>
            <a:off x="1336964" y="1522780"/>
            <a:ext cx="6093228" cy="374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Vrinda" panose="020B0502040204020203" pitchFamily="34" charset="0"/>
              </a:rPr>
              <a:t>Case 3: Dead-zone test (phase error = 20 ps)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159B00-0F2B-449E-A5CD-C425B4D3961D}"/>
              </a:ext>
            </a:extLst>
          </p:cNvPr>
          <p:cNvSpPr txBox="1"/>
          <p:nvPr/>
        </p:nvSpPr>
        <p:spPr>
          <a:xfrm>
            <a:off x="1336964" y="5337629"/>
            <a:ext cx="9500000" cy="67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Vrinda" panose="020B0502040204020203" pitchFamily="34" charset="0"/>
              </a:rPr>
              <a:t>Even for a 20 ps phase error UP gives a full pulse (widened by the reset delay) → PFD is free of dead zone.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25DBE5E-5504-4F5B-BC9B-A58791AE54B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845143" y="2047463"/>
            <a:ext cx="6335270" cy="2896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3233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65BEC-A1DF-DB49-B707-F4003CEA7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27087"/>
            <a:ext cx="10058400" cy="729006"/>
          </a:xfrm>
        </p:spPr>
        <p:txBody>
          <a:bodyPr>
            <a:normAutofit/>
          </a:bodyPr>
          <a:lstStyle/>
          <a:p>
            <a:r>
              <a:rPr lang="en-US" sz="3600" dirty="0"/>
              <a:t>3.2 Design Methods</a:t>
            </a:r>
            <a:endParaRPr lang="en-BD" sz="3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FAFD4-E2E1-B948-84C7-28DD8B57F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12</a:t>
            </a:fld>
            <a:endParaRPr lang="en-BD"/>
          </a:p>
        </p:txBody>
      </p:sp>
      <p:sp>
        <p:nvSpPr>
          <p:cNvPr id="7" name="Date Placeholder 5">
            <a:extLst>
              <a:ext uri="{FF2B5EF4-FFF2-40B4-BE49-F238E27FC236}">
                <a16:creationId xmlns:a16="http://schemas.microsoft.com/office/drawing/2014/main" id="{BFD6422F-12DA-8A45-9AF9-8BFCA12E4A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56363"/>
          </a:xfrm>
        </p:spPr>
        <p:txBody>
          <a:bodyPr/>
          <a:lstStyle/>
          <a:p>
            <a:r>
              <a:rPr lang="en-US"/>
              <a:t>EEE 466 (2026) – Final Project Group 03.G2</a:t>
            </a:r>
            <a:endParaRPr lang="en-BD" dirty="0"/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82DF7523-28E5-1646-96D1-1E49DDA95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3400000" cy="375412"/>
          </a:xfrm>
        </p:spPr>
        <p:txBody>
          <a:bodyPr/>
          <a:lstStyle/>
          <a:p>
            <a:pPr algn="l"/>
            <a:r>
              <a:rPr lang="en-BD" dirty="0"/>
              <a:t>1.2 GHz Charge-Pump PLL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D98CFC-581F-2C4F-57A4-5892CF555A9A}"/>
              </a:ext>
            </a:extLst>
          </p:cNvPr>
          <p:cNvSpPr txBox="1"/>
          <p:nvPr/>
        </p:nvSpPr>
        <p:spPr>
          <a:xfrm>
            <a:off x="875000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Group 03.G2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B032072-7033-4376-B23B-917DBD9334C0}"/>
              </a:ext>
            </a:extLst>
          </p:cNvPr>
          <p:cNvSpPr txBox="1">
            <a:spLocks/>
          </p:cNvSpPr>
          <p:nvPr/>
        </p:nvSpPr>
        <p:spPr>
          <a:xfrm>
            <a:off x="1066800" y="824889"/>
            <a:ext cx="10058400" cy="7290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GB" sz="2800" b="1" dirty="0"/>
              <a:t>3.2.2 Charge Pump (CP)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C4A33F-6BA7-4D30-9FDC-4D560E447A57}"/>
              </a:ext>
            </a:extLst>
          </p:cNvPr>
          <p:cNvSpPr txBox="1"/>
          <p:nvPr/>
        </p:nvSpPr>
        <p:spPr>
          <a:xfrm>
            <a:off x="1066800" y="1388278"/>
            <a:ext cx="1388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Schematic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89050DF-BC2A-41A3-8F8F-9C9A3BE319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42" t="5723" r="2673" b="6373"/>
          <a:stretch/>
        </p:blipFill>
        <p:spPr>
          <a:xfrm>
            <a:off x="1205753" y="1887634"/>
            <a:ext cx="9780494" cy="3985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0509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65BEC-A1DF-DB49-B707-F4003CEA7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35848"/>
            <a:ext cx="10058400" cy="729006"/>
          </a:xfrm>
        </p:spPr>
        <p:txBody>
          <a:bodyPr>
            <a:normAutofit/>
          </a:bodyPr>
          <a:lstStyle/>
          <a:p>
            <a:r>
              <a:rPr lang="en-US" sz="3600" dirty="0"/>
              <a:t>3.2 Design Methods</a:t>
            </a:r>
            <a:endParaRPr lang="en-BD" sz="3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FAFD4-E2E1-B948-84C7-28DD8B57F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13</a:t>
            </a:fld>
            <a:endParaRPr lang="en-BD"/>
          </a:p>
        </p:txBody>
      </p:sp>
      <p:sp>
        <p:nvSpPr>
          <p:cNvPr id="7" name="Date Placeholder 5">
            <a:extLst>
              <a:ext uri="{FF2B5EF4-FFF2-40B4-BE49-F238E27FC236}">
                <a16:creationId xmlns:a16="http://schemas.microsoft.com/office/drawing/2014/main" id="{BFD6422F-12DA-8A45-9AF9-8BFCA12E4A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56363"/>
          </a:xfrm>
        </p:spPr>
        <p:txBody>
          <a:bodyPr/>
          <a:lstStyle/>
          <a:p>
            <a:r>
              <a:rPr lang="en-US"/>
              <a:t>EEE 466 (2026) – Final Project Group 03.G2</a:t>
            </a:r>
            <a:endParaRPr lang="en-BD" dirty="0"/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82DF7523-28E5-1646-96D1-1E49DDA95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3400000" cy="375412"/>
          </a:xfrm>
        </p:spPr>
        <p:txBody>
          <a:bodyPr/>
          <a:lstStyle/>
          <a:p>
            <a:pPr algn="l"/>
            <a:r>
              <a:rPr lang="en-BD" dirty="0"/>
              <a:t>1.2 GHz Charge-Pump PLL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D98CFC-581F-2C4F-57A4-5892CF555A9A}"/>
              </a:ext>
            </a:extLst>
          </p:cNvPr>
          <p:cNvSpPr txBox="1"/>
          <p:nvPr/>
        </p:nvSpPr>
        <p:spPr>
          <a:xfrm>
            <a:off x="875000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Group 03.G2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B032072-7033-4376-B23B-917DBD9334C0}"/>
              </a:ext>
            </a:extLst>
          </p:cNvPr>
          <p:cNvSpPr txBox="1">
            <a:spLocks/>
          </p:cNvSpPr>
          <p:nvPr/>
        </p:nvSpPr>
        <p:spPr>
          <a:xfrm>
            <a:off x="1066800" y="733650"/>
            <a:ext cx="10058400" cy="7290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GB" sz="2800" b="1" dirty="0"/>
              <a:t>3.2.2 Charge Pump (CP)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C4A33F-6BA7-4D30-9FDC-4D560E447A57}"/>
              </a:ext>
            </a:extLst>
          </p:cNvPr>
          <p:cNvSpPr txBox="1"/>
          <p:nvPr/>
        </p:nvSpPr>
        <p:spPr>
          <a:xfrm>
            <a:off x="1066800" y="1388278"/>
            <a:ext cx="9268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Layout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3B69E1-1D6F-4C56-8B3D-C9B3CF58D9B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456" t="18301" r="4044" b="8167"/>
          <a:stretch/>
        </p:blipFill>
        <p:spPr>
          <a:xfrm>
            <a:off x="2063628" y="1388278"/>
            <a:ext cx="8740588" cy="438216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7648F28-B03E-4F81-A716-F7880CD057B8}"/>
              </a:ext>
            </a:extLst>
          </p:cNvPr>
          <p:cNvSpPr txBox="1"/>
          <p:nvPr/>
        </p:nvSpPr>
        <p:spPr>
          <a:xfrm>
            <a:off x="1530228" y="5954482"/>
            <a:ext cx="9666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Width – 144.21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µm</a:t>
            </a:r>
            <a:r>
              <a:rPr lang="en-US" dirty="0"/>
              <a:t> 		Height - 71.32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µm 	      </a:t>
            </a:r>
            <a:r>
              <a:rPr lang="en-US" dirty="0"/>
              <a:t>Area = 10,285 µm² = 0.01029 mm²</a:t>
            </a:r>
          </a:p>
        </p:txBody>
      </p:sp>
    </p:spTree>
    <p:extLst>
      <p:ext uri="{BB962C8B-B14F-4D97-AF65-F5344CB8AC3E}">
        <p14:creationId xmlns:p14="http://schemas.microsoft.com/office/powerpoint/2010/main" val="41947672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65BEC-A1DF-DB49-B707-F4003CEA7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35848"/>
            <a:ext cx="10058400" cy="729006"/>
          </a:xfrm>
        </p:spPr>
        <p:txBody>
          <a:bodyPr>
            <a:normAutofit/>
          </a:bodyPr>
          <a:lstStyle/>
          <a:p>
            <a:r>
              <a:rPr lang="en-US" sz="3600" dirty="0"/>
              <a:t>3.2 Design Methods</a:t>
            </a:r>
            <a:endParaRPr lang="en-BD" sz="3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FAFD4-E2E1-B948-84C7-28DD8B57F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14</a:t>
            </a:fld>
            <a:endParaRPr lang="en-BD"/>
          </a:p>
        </p:txBody>
      </p:sp>
      <p:sp>
        <p:nvSpPr>
          <p:cNvPr id="7" name="Date Placeholder 5">
            <a:extLst>
              <a:ext uri="{FF2B5EF4-FFF2-40B4-BE49-F238E27FC236}">
                <a16:creationId xmlns:a16="http://schemas.microsoft.com/office/drawing/2014/main" id="{BFD6422F-12DA-8A45-9AF9-8BFCA12E4A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56363"/>
          </a:xfrm>
        </p:spPr>
        <p:txBody>
          <a:bodyPr/>
          <a:lstStyle/>
          <a:p>
            <a:r>
              <a:rPr lang="en-US"/>
              <a:t>EEE 466 (2026) – Final Project Group 03.G2</a:t>
            </a:r>
            <a:endParaRPr lang="en-BD" dirty="0"/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82DF7523-28E5-1646-96D1-1E49DDA95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3400000" cy="375412"/>
          </a:xfrm>
        </p:spPr>
        <p:txBody>
          <a:bodyPr/>
          <a:lstStyle/>
          <a:p>
            <a:pPr algn="l"/>
            <a:r>
              <a:rPr lang="en-BD" dirty="0"/>
              <a:t>1.2 GHz Charge-Pump PLL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D98CFC-581F-2C4F-57A4-5892CF555A9A}"/>
              </a:ext>
            </a:extLst>
          </p:cNvPr>
          <p:cNvSpPr txBox="1"/>
          <p:nvPr/>
        </p:nvSpPr>
        <p:spPr>
          <a:xfrm>
            <a:off x="875000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Group 03.G2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B032072-7033-4376-B23B-917DBD9334C0}"/>
              </a:ext>
            </a:extLst>
          </p:cNvPr>
          <p:cNvSpPr txBox="1">
            <a:spLocks/>
          </p:cNvSpPr>
          <p:nvPr/>
        </p:nvSpPr>
        <p:spPr>
          <a:xfrm>
            <a:off x="1066800" y="733650"/>
            <a:ext cx="10058400" cy="7290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GB" sz="2800" b="1" dirty="0"/>
              <a:t>3.2.2 Charge Pump (CP)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EE8B81-D4AD-4013-AF0B-A5085065669A}"/>
              </a:ext>
            </a:extLst>
          </p:cNvPr>
          <p:cNvSpPr txBox="1"/>
          <p:nvPr/>
        </p:nvSpPr>
        <p:spPr>
          <a:xfrm>
            <a:off x="1066800" y="1481705"/>
            <a:ext cx="36054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Current source : Beta Multiplier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857689A-B635-43A8-AF96-C1C884F65B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157" y="1996636"/>
            <a:ext cx="5334620" cy="334240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7247F7C-EE4D-4FC9-8336-452472FA6D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3618" y="2006519"/>
            <a:ext cx="5196549" cy="3322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6924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65BEC-A1DF-DB49-B707-F4003CEA7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35848"/>
            <a:ext cx="10058400" cy="729006"/>
          </a:xfrm>
        </p:spPr>
        <p:txBody>
          <a:bodyPr>
            <a:normAutofit/>
          </a:bodyPr>
          <a:lstStyle/>
          <a:p>
            <a:r>
              <a:rPr lang="en-US" sz="3600" dirty="0"/>
              <a:t>3.2 Design Methods</a:t>
            </a:r>
            <a:endParaRPr lang="en-BD" sz="3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FAFD4-E2E1-B948-84C7-28DD8B57F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15</a:t>
            </a:fld>
            <a:endParaRPr lang="en-BD"/>
          </a:p>
        </p:txBody>
      </p:sp>
      <p:sp>
        <p:nvSpPr>
          <p:cNvPr id="7" name="Date Placeholder 5">
            <a:extLst>
              <a:ext uri="{FF2B5EF4-FFF2-40B4-BE49-F238E27FC236}">
                <a16:creationId xmlns:a16="http://schemas.microsoft.com/office/drawing/2014/main" id="{BFD6422F-12DA-8A45-9AF9-8BFCA12E4A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56363"/>
          </a:xfrm>
        </p:spPr>
        <p:txBody>
          <a:bodyPr/>
          <a:lstStyle/>
          <a:p>
            <a:r>
              <a:rPr lang="en-US"/>
              <a:t>EEE 466 (2026) – Final Project Group 03.G2</a:t>
            </a:r>
            <a:endParaRPr lang="en-BD" dirty="0"/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82DF7523-28E5-1646-96D1-1E49DDA95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3400000" cy="375412"/>
          </a:xfrm>
        </p:spPr>
        <p:txBody>
          <a:bodyPr/>
          <a:lstStyle/>
          <a:p>
            <a:pPr algn="l"/>
            <a:r>
              <a:rPr lang="en-BD" dirty="0"/>
              <a:t>1.2 GHz Charge-Pump PLL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D98CFC-581F-2C4F-57A4-5892CF555A9A}"/>
              </a:ext>
            </a:extLst>
          </p:cNvPr>
          <p:cNvSpPr txBox="1"/>
          <p:nvPr/>
        </p:nvSpPr>
        <p:spPr>
          <a:xfrm>
            <a:off x="875000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Group 03.G2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B032072-7033-4376-B23B-917DBD9334C0}"/>
              </a:ext>
            </a:extLst>
          </p:cNvPr>
          <p:cNvSpPr txBox="1">
            <a:spLocks/>
          </p:cNvSpPr>
          <p:nvPr/>
        </p:nvSpPr>
        <p:spPr>
          <a:xfrm>
            <a:off x="1066800" y="733650"/>
            <a:ext cx="10058400" cy="7290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GB" sz="2800" b="1" dirty="0"/>
              <a:t>3.2.2 Charge Pump (CP)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5CA4F3-4FA5-4FC0-A1B1-82A18972CF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1695383"/>
            <a:ext cx="5305425" cy="319782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F8CB2A0-DE18-478E-93A1-CB4E996F6DAD}"/>
              </a:ext>
            </a:extLst>
          </p:cNvPr>
          <p:cNvSpPr txBox="1"/>
          <p:nvPr/>
        </p:nvSpPr>
        <p:spPr>
          <a:xfrm>
            <a:off x="2397124" y="5162617"/>
            <a:ext cx="29825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Green – Up Current, </a:t>
            </a:r>
            <a:br>
              <a:rPr lang="en-US" dirty="0"/>
            </a:br>
            <a:r>
              <a:rPr lang="en-US" dirty="0"/>
              <a:t>Red- Down Current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239DBC1-6C65-4A98-9EE1-89ADADA9E3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425" y="1695383"/>
            <a:ext cx="5305425" cy="319782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A72340B-D615-43D4-970A-6BB690422057}"/>
              </a:ext>
            </a:extLst>
          </p:cNvPr>
          <p:cNvSpPr txBox="1"/>
          <p:nvPr/>
        </p:nvSpPr>
        <p:spPr>
          <a:xfrm>
            <a:off x="8410575" y="4999511"/>
            <a:ext cx="2781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Current Mismatch Plot </a:t>
            </a:r>
          </a:p>
        </p:txBody>
      </p:sp>
    </p:spTree>
    <p:extLst>
      <p:ext uri="{BB962C8B-B14F-4D97-AF65-F5344CB8AC3E}">
        <p14:creationId xmlns:p14="http://schemas.microsoft.com/office/powerpoint/2010/main" val="22554712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65BEC-A1DF-DB49-B707-F4003CEA7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35848"/>
            <a:ext cx="10058400" cy="729006"/>
          </a:xfrm>
        </p:spPr>
        <p:txBody>
          <a:bodyPr>
            <a:normAutofit/>
          </a:bodyPr>
          <a:lstStyle/>
          <a:p>
            <a:r>
              <a:rPr lang="en-US" sz="3600" dirty="0"/>
              <a:t>3.2 Design Methods</a:t>
            </a:r>
            <a:endParaRPr lang="en-BD" sz="3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FAFD4-E2E1-B948-84C7-28DD8B57F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16</a:t>
            </a:fld>
            <a:endParaRPr lang="en-BD"/>
          </a:p>
        </p:txBody>
      </p:sp>
      <p:sp>
        <p:nvSpPr>
          <p:cNvPr id="7" name="Date Placeholder 5">
            <a:extLst>
              <a:ext uri="{FF2B5EF4-FFF2-40B4-BE49-F238E27FC236}">
                <a16:creationId xmlns:a16="http://schemas.microsoft.com/office/drawing/2014/main" id="{BFD6422F-12DA-8A45-9AF9-8BFCA12E4A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56363"/>
          </a:xfrm>
        </p:spPr>
        <p:txBody>
          <a:bodyPr/>
          <a:lstStyle/>
          <a:p>
            <a:r>
              <a:rPr lang="en-US"/>
              <a:t>EEE 466 (2026) – Final Project Group 03.G2</a:t>
            </a:r>
            <a:endParaRPr lang="en-BD" dirty="0"/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82DF7523-28E5-1646-96D1-1E49DDA95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3400000" cy="375412"/>
          </a:xfrm>
        </p:spPr>
        <p:txBody>
          <a:bodyPr/>
          <a:lstStyle/>
          <a:p>
            <a:pPr algn="l"/>
            <a:r>
              <a:rPr lang="en-BD" dirty="0"/>
              <a:t>1.2 GHz Charge-Pump PLL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D98CFC-581F-2C4F-57A4-5892CF555A9A}"/>
              </a:ext>
            </a:extLst>
          </p:cNvPr>
          <p:cNvSpPr txBox="1"/>
          <p:nvPr/>
        </p:nvSpPr>
        <p:spPr>
          <a:xfrm>
            <a:off x="875000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Group 03.G2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B032072-7033-4376-B23B-917DBD9334C0}"/>
              </a:ext>
            </a:extLst>
          </p:cNvPr>
          <p:cNvSpPr txBox="1">
            <a:spLocks/>
          </p:cNvSpPr>
          <p:nvPr/>
        </p:nvSpPr>
        <p:spPr>
          <a:xfrm>
            <a:off x="1066800" y="733650"/>
            <a:ext cx="10058400" cy="7290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GB" sz="2800" b="1" dirty="0"/>
              <a:t>3.2.2 Charge Pump (CP)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BB6001-4748-4B00-B387-D5B0199D1B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860164"/>
            <a:ext cx="2644369" cy="25910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3F9146F-1E35-4F41-A238-6AB8423ED8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0500" y="1321264"/>
            <a:ext cx="5640666" cy="358227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506A5D3-4470-459D-930A-60E5E13E2378}"/>
              </a:ext>
            </a:extLst>
          </p:cNvPr>
          <p:cNvSpPr txBox="1"/>
          <p:nvPr/>
        </p:nvSpPr>
        <p:spPr>
          <a:xfrm>
            <a:off x="749672" y="4762149"/>
            <a:ext cx="38969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STB analysis of the replica-bias loop: PM &gt; 60° → stable</a:t>
            </a:r>
            <a:br>
              <a:rPr lang="en-US" dirty="0"/>
            </a:b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47EA6F-4599-4B48-9CF4-06789D57CE90}"/>
              </a:ext>
            </a:extLst>
          </p:cNvPr>
          <p:cNvSpPr txBox="1"/>
          <p:nvPr/>
        </p:nvSpPr>
        <p:spPr>
          <a:xfrm>
            <a:off x="5656857" y="5170297"/>
            <a:ext cx="60150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Parametric STB sweep: stable over the full V_ctrl range (0.2 – 0.9 V)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26032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65BEC-A1DF-DB49-B707-F4003CEA7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35848"/>
            <a:ext cx="10058400" cy="729006"/>
          </a:xfrm>
        </p:spPr>
        <p:txBody>
          <a:bodyPr>
            <a:normAutofit/>
          </a:bodyPr>
          <a:lstStyle/>
          <a:p>
            <a:r>
              <a:rPr lang="en-US" sz="3600" dirty="0"/>
              <a:t>3.2 Design Methods</a:t>
            </a:r>
            <a:endParaRPr lang="en-BD" sz="3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FAFD4-E2E1-B948-84C7-28DD8B57F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17</a:t>
            </a:fld>
            <a:endParaRPr lang="en-BD"/>
          </a:p>
        </p:txBody>
      </p:sp>
      <p:sp>
        <p:nvSpPr>
          <p:cNvPr id="7" name="Date Placeholder 5">
            <a:extLst>
              <a:ext uri="{FF2B5EF4-FFF2-40B4-BE49-F238E27FC236}">
                <a16:creationId xmlns:a16="http://schemas.microsoft.com/office/drawing/2014/main" id="{BFD6422F-12DA-8A45-9AF9-8BFCA12E4A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56363"/>
          </a:xfrm>
        </p:spPr>
        <p:txBody>
          <a:bodyPr/>
          <a:lstStyle/>
          <a:p>
            <a:r>
              <a:rPr lang="en-US"/>
              <a:t>EEE 466 (2026) – Final Project Group 03.G2</a:t>
            </a:r>
            <a:endParaRPr lang="en-BD" dirty="0"/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82DF7523-28E5-1646-96D1-1E49DDA95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3400000" cy="375412"/>
          </a:xfrm>
        </p:spPr>
        <p:txBody>
          <a:bodyPr/>
          <a:lstStyle/>
          <a:p>
            <a:pPr algn="l"/>
            <a:r>
              <a:rPr lang="en-BD" dirty="0"/>
              <a:t>1.2 GHz Charge-Pump PLL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D98CFC-581F-2C4F-57A4-5892CF555A9A}"/>
              </a:ext>
            </a:extLst>
          </p:cNvPr>
          <p:cNvSpPr txBox="1"/>
          <p:nvPr/>
        </p:nvSpPr>
        <p:spPr>
          <a:xfrm>
            <a:off x="875000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Group 03.G2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B032072-7033-4376-B23B-917DBD9334C0}"/>
              </a:ext>
            </a:extLst>
          </p:cNvPr>
          <p:cNvSpPr txBox="1">
            <a:spLocks/>
          </p:cNvSpPr>
          <p:nvPr/>
        </p:nvSpPr>
        <p:spPr>
          <a:xfrm>
            <a:off x="1066800" y="733650"/>
            <a:ext cx="10058400" cy="7290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GB" sz="2800" b="1" dirty="0"/>
              <a:t>3.2.2 Charge Pump (CP)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4BD76E-B97F-4ADF-9105-6D521E5768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777" y="1600041"/>
            <a:ext cx="9754445" cy="365791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1DD747F-D783-47FC-862B-C54EBD47E544}"/>
              </a:ext>
            </a:extLst>
          </p:cNvPr>
          <p:cNvSpPr txBox="1"/>
          <p:nvPr/>
        </p:nvSpPr>
        <p:spPr>
          <a:xfrm>
            <a:off x="4503255" y="5491417"/>
            <a:ext cx="3692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Charge Pump transient analysis</a:t>
            </a:r>
          </a:p>
        </p:txBody>
      </p:sp>
    </p:spTree>
    <p:extLst>
      <p:ext uri="{BB962C8B-B14F-4D97-AF65-F5344CB8AC3E}">
        <p14:creationId xmlns:p14="http://schemas.microsoft.com/office/powerpoint/2010/main" val="27608608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65BEC-A1DF-DB49-B707-F4003CEA7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27087"/>
            <a:ext cx="10058400" cy="729006"/>
          </a:xfrm>
        </p:spPr>
        <p:txBody>
          <a:bodyPr>
            <a:normAutofit/>
          </a:bodyPr>
          <a:lstStyle/>
          <a:p>
            <a:r>
              <a:rPr lang="en-US" sz="3600" dirty="0"/>
              <a:t>3.2 Design Methods</a:t>
            </a:r>
            <a:endParaRPr lang="en-BD" sz="3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FAFD4-E2E1-B948-84C7-28DD8B57F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18</a:t>
            </a:fld>
            <a:endParaRPr lang="en-BD"/>
          </a:p>
        </p:txBody>
      </p:sp>
      <p:sp>
        <p:nvSpPr>
          <p:cNvPr id="7" name="Date Placeholder 5">
            <a:extLst>
              <a:ext uri="{FF2B5EF4-FFF2-40B4-BE49-F238E27FC236}">
                <a16:creationId xmlns:a16="http://schemas.microsoft.com/office/drawing/2014/main" id="{BFD6422F-12DA-8A45-9AF9-8BFCA12E4A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56363"/>
          </a:xfrm>
        </p:spPr>
        <p:txBody>
          <a:bodyPr/>
          <a:lstStyle/>
          <a:p>
            <a:r>
              <a:rPr lang="en-US"/>
              <a:t>EEE 466 (2026) – Final Project Group 03.G2</a:t>
            </a:r>
            <a:endParaRPr lang="en-BD" dirty="0"/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82DF7523-28E5-1646-96D1-1E49DDA95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3400000" cy="375412"/>
          </a:xfrm>
        </p:spPr>
        <p:txBody>
          <a:bodyPr/>
          <a:lstStyle/>
          <a:p>
            <a:pPr algn="l"/>
            <a:r>
              <a:rPr lang="en-BD" dirty="0"/>
              <a:t>1.2 GHz Charge-Pump PLL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D98CFC-581F-2C4F-57A4-5892CF555A9A}"/>
              </a:ext>
            </a:extLst>
          </p:cNvPr>
          <p:cNvSpPr txBox="1"/>
          <p:nvPr/>
        </p:nvSpPr>
        <p:spPr>
          <a:xfrm>
            <a:off x="875000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Group 03.G2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B032072-7033-4376-B23B-917DBD9334C0}"/>
              </a:ext>
            </a:extLst>
          </p:cNvPr>
          <p:cNvSpPr txBox="1">
            <a:spLocks/>
          </p:cNvSpPr>
          <p:nvPr/>
        </p:nvSpPr>
        <p:spPr>
          <a:xfrm>
            <a:off x="1066800" y="824889"/>
            <a:ext cx="10058400" cy="7290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GB" sz="2800" b="1" dirty="0"/>
              <a:t>3.2.3 Voltage-Controlled Oscillator (VCO)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C4A33F-6BA7-4D30-9FDC-4D560E447A57}"/>
              </a:ext>
            </a:extLst>
          </p:cNvPr>
          <p:cNvSpPr txBox="1"/>
          <p:nvPr/>
        </p:nvSpPr>
        <p:spPr>
          <a:xfrm>
            <a:off x="1066800" y="1553895"/>
            <a:ext cx="1378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Schematic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7407CD7-E8FF-4094-BD4E-5012C47CCF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619" t="4452" r="5219" b="3931"/>
          <a:stretch/>
        </p:blipFill>
        <p:spPr>
          <a:xfrm>
            <a:off x="1517077" y="2011360"/>
            <a:ext cx="9157845" cy="4032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9632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65BEC-A1DF-DB49-B707-F4003CEA7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27087"/>
            <a:ext cx="10058400" cy="729006"/>
          </a:xfrm>
        </p:spPr>
        <p:txBody>
          <a:bodyPr>
            <a:normAutofit/>
          </a:bodyPr>
          <a:lstStyle/>
          <a:p>
            <a:r>
              <a:rPr lang="en-US" sz="3600" dirty="0"/>
              <a:t>3.2 Design Methods</a:t>
            </a:r>
            <a:endParaRPr lang="en-BD" sz="3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FAFD4-E2E1-B948-84C7-28DD8B57F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19</a:t>
            </a:fld>
            <a:endParaRPr lang="en-BD"/>
          </a:p>
        </p:txBody>
      </p:sp>
      <p:sp>
        <p:nvSpPr>
          <p:cNvPr id="7" name="Date Placeholder 5">
            <a:extLst>
              <a:ext uri="{FF2B5EF4-FFF2-40B4-BE49-F238E27FC236}">
                <a16:creationId xmlns:a16="http://schemas.microsoft.com/office/drawing/2014/main" id="{BFD6422F-12DA-8A45-9AF9-8BFCA12E4A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56363"/>
          </a:xfrm>
        </p:spPr>
        <p:txBody>
          <a:bodyPr/>
          <a:lstStyle/>
          <a:p>
            <a:r>
              <a:rPr lang="en-US"/>
              <a:t>EEE 466 (2026) – Final Project Group 03.G2</a:t>
            </a:r>
            <a:endParaRPr lang="en-BD" dirty="0"/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82DF7523-28E5-1646-96D1-1E49DDA95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3400000" cy="375412"/>
          </a:xfrm>
        </p:spPr>
        <p:txBody>
          <a:bodyPr/>
          <a:lstStyle/>
          <a:p>
            <a:pPr algn="l"/>
            <a:r>
              <a:rPr lang="en-BD" dirty="0"/>
              <a:t>1.2 GHz Charge-Pump PLL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D98CFC-581F-2C4F-57A4-5892CF555A9A}"/>
              </a:ext>
            </a:extLst>
          </p:cNvPr>
          <p:cNvSpPr txBox="1"/>
          <p:nvPr/>
        </p:nvSpPr>
        <p:spPr>
          <a:xfrm>
            <a:off x="875000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Group 03.G2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B032072-7033-4376-B23B-917DBD9334C0}"/>
              </a:ext>
            </a:extLst>
          </p:cNvPr>
          <p:cNvSpPr txBox="1">
            <a:spLocks/>
          </p:cNvSpPr>
          <p:nvPr/>
        </p:nvSpPr>
        <p:spPr>
          <a:xfrm>
            <a:off x="1066800" y="824889"/>
            <a:ext cx="10058400" cy="7290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GB" sz="2800" b="1" dirty="0"/>
              <a:t>3.2.3 Voltage-Controlled Oscillator (VCO)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C4A33F-6BA7-4D30-9FDC-4D560E447A57}"/>
              </a:ext>
            </a:extLst>
          </p:cNvPr>
          <p:cNvSpPr txBox="1"/>
          <p:nvPr/>
        </p:nvSpPr>
        <p:spPr>
          <a:xfrm>
            <a:off x="1066800" y="1553895"/>
            <a:ext cx="9268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Layout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C85E0E-1DEA-4C04-A84C-1998554753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952" y="2038923"/>
            <a:ext cx="10806096" cy="289585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C79E16E-6293-404F-850F-9E4DF6F3B7D3}"/>
              </a:ext>
            </a:extLst>
          </p:cNvPr>
          <p:cNvSpPr txBox="1"/>
          <p:nvPr/>
        </p:nvSpPr>
        <p:spPr>
          <a:xfrm>
            <a:off x="1326776" y="5304105"/>
            <a:ext cx="23615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Width – 139.865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µm</a:t>
            </a:r>
            <a:r>
              <a:rPr lang="en-US" dirty="0"/>
              <a:t> </a:t>
            </a:r>
          </a:p>
          <a:p>
            <a:r>
              <a:rPr lang="en-US" dirty="0"/>
              <a:t>Height – 33.825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µm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4F0B44-3B18-4A53-8365-A02E94AAB809}"/>
              </a:ext>
            </a:extLst>
          </p:cNvPr>
          <p:cNvSpPr txBox="1"/>
          <p:nvPr/>
        </p:nvSpPr>
        <p:spPr>
          <a:xfrm>
            <a:off x="7365389" y="5442604"/>
            <a:ext cx="2063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Area = 4,731 µm² = 0.004731 mm²</a:t>
            </a:r>
          </a:p>
        </p:txBody>
      </p:sp>
    </p:spTree>
    <p:extLst>
      <p:ext uri="{BB962C8B-B14F-4D97-AF65-F5344CB8AC3E}">
        <p14:creationId xmlns:p14="http://schemas.microsoft.com/office/powerpoint/2010/main" val="9736185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65BEC-A1DF-DB49-B707-F4003CEA7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27087"/>
            <a:ext cx="10058400" cy="729006"/>
          </a:xfrm>
        </p:spPr>
        <p:txBody>
          <a:bodyPr>
            <a:normAutofit/>
          </a:bodyPr>
          <a:lstStyle/>
          <a:p>
            <a:r>
              <a:rPr lang="en-US" sz="3600" dirty="0"/>
              <a:t>3.2 Design Methods</a:t>
            </a:r>
            <a:endParaRPr lang="en-BD" sz="3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FAFD4-E2E1-B948-84C7-28DD8B57F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20</a:t>
            </a:fld>
            <a:endParaRPr lang="en-BD"/>
          </a:p>
        </p:txBody>
      </p:sp>
      <p:sp>
        <p:nvSpPr>
          <p:cNvPr id="7" name="Date Placeholder 5">
            <a:extLst>
              <a:ext uri="{FF2B5EF4-FFF2-40B4-BE49-F238E27FC236}">
                <a16:creationId xmlns:a16="http://schemas.microsoft.com/office/drawing/2014/main" id="{BFD6422F-12DA-8A45-9AF9-8BFCA12E4A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56363"/>
          </a:xfrm>
        </p:spPr>
        <p:txBody>
          <a:bodyPr/>
          <a:lstStyle/>
          <a:p>
            <a:r>
              <a:rPr lang="en-US"/>
              <a:t>EEE 466 (2026) – Final Project Group 03.G2</a:t>
            </a:r>
            <a:endParaRPr lang="en-BD" dirty="0"/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82DF7523-28E5-1646-96D1-1E49DDA95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3400000" cy="375412"/>
          </a:xfrm>
        </p:spPr>
        <p:txBody>
          <a:bodyPr/>
          <a:lstStyle/>
          <a:p>
            <a:pPr algn="l"/>
            <a:r>
              <a:rPr lang="en-BD" dirty="0"/>
              <a:t>1.2 GHz Charge-Pump PLL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D98CFC-581F-2C4F-57A4-5892CF555A9A}"/>
              </a:ext>
            </a:extLst>
          </p:cNvPr>
          <p:cNvSpPr txBox="1"/>
          <p:nvPr/>
        </p:nvSpPr>
        <p:spPr>
          <a:xfrm>
            <a:off x="875000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Group 03.G2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B032072-7033-4376-B23B-917DBD9334C0}"/>
              </a:ext>
            </a:extLst>
          </p:cNvPr>
          <p:cNvSpPr txBox="1">
            <a:spLocks/>
          </p:cNvSpPr>
          <p:nvPr/>
        </p:nvSpPr>
        <p:spPr>
          <a:xfrm>
            <a:off x="1066800" y="824889"/>
            <a:ext cx="10058400" cy="7290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GB" sz="2800" b="1" dirty="0"/>
              <a:t>3.2.3 Voltage-Controlled Oscillator (VCO)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8BF105-AE4B-44C9-B4BE-F955F6233914}"/>
              </a:ext>
            </a:extLst>
          </p:cNvPr>
          <p:cNvSpPr txBox="1"/>
          <p:nvPr/>
        </p:nvSpPr>
        <p:spPr>
          <a:xfrm>
            <a:off x="1066800" y="1464840"/>
            <a:ext cx="2133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Simulation Result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216A6E1-BDFB-46C7-8793-A8EAEB8BE1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2043587"/>
            <a:ext cx="9753600" cy="368808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122357A-C635-48DE-9861-CA3DDE304394}"/>
              </a:ext>
            </a:extLst>
          </p:cNvPr>
          <p:cNvSpPr txBox="1"/>
          <p:nvPr/>
        </p:nvSpPr>
        <p:spPr>
          <a:xfrm>
            <a:off x="3688931" y="5903835"/>
            <a:ext cx="48141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Frequency Range 900.685 MHz to 1.5 GHz</a:t>
            </a:r>
          </a:p>
        </p:txBody>
      </p:sp>
    </p:spTree>
    <p:extLst>
      <p:ext uri="{BB962C8B-B14F-4D97-AF65-F5344CB8AC3E}">
        <p14:creationId xmlns:p14="http://schemas.microsoft.com/office/powerpoint/2010/main" val="22375765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65BEC-A1DF-DB49-B707-F4003CEA7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27087"/>
            <a:ext cx="10058400" cy="729006"/>
          </a:xfrm>
        </p:spPr>
        <p:txBody>
          <a:bodyPr>
            <a:normAutofit/>
          </a:bodyPr>
          <a:lstStyle/>
          <a:p>
            <a:r>
              <a:rPr lang="en-US" sz="3600" dirty="0"/>
              <a:t>3.2 Design Methods</a:t>
            </a:r>
            <a:endParaRPr lang="en-BD" sz="3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FAFD4-E2E1-B948-84C7-28DD8B57F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21</a:t>
            </a:fld>
            <a:endParaRPr lang="en-BD"/>
          </a:p>
        </p:txBody>
      </p:sp>
      <p:sp>
        <p:nvSpPr>
          <p:cNvPr id="7" name="Date Placeholder 5">
            <a:extLst>
              <a:ext uri="{FF2B5EF4-FFF2-40B4-BE49-F238E27FC236}">
                <a16:creationId xmlns:a16="http://schemas.microsoft.com/office/drawing/2014/main" id="{BFD6422F-12DA-8A45-9AF9-8BFCA12E4A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56363"/>
          </a:xfrm>
        </p:spPr>
        <p:txBody>
          <a:bodyPr/>
          <a:lstStyle/>
          <a:p>
            <a:r>
              <a:rPr lang="en-US"/>
              <a:t>EEE 466 (2026) – Final Project Group 03.G2</a:t>
            </a:r>
            <a:endParaRPr lang="en-BD" dirty="0"/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82DF7523-28E5-1646-96D1-1E49DDA95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3400000" cy="375412"/>
          </a:xfrm>
        </p:spPr>
        <p:txBody>
          <a:bodyPr/>
          <a:lstStyle/>
          <a:p>
            <a:pPr algn="l"/>
            <a:r>
              <a:rPr lang="en-BD" dirty="0"/>
              <a:t>1.2 GHz Charge-Pump PLL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D98CFC-581F-2C4F-57A4-5892CF555A9A}"/>
              </a:ext>
            </a:extLst>
          </p:cNvPr>
          <p:cNvSpPr txBox="1"/>
          <p:nvPr/>
        </p:nvSpPr>
        <p:spPr>
          <a:xfrm>
            <a:off x="875000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Group 03.G2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B032072-7033-4376-B23B-917DBD9334C0}"/>
              </a:ext>
            </a:extLst>
          </p:cNvPr>
          <p:cNvSpPr txBox="1">
            <a:spLocks/>
          </p:cNvSpPr>
          <p:nvPr/>
        </p:nvSpPr>
        <p:spPr>
          <a:xfrm>
            <a:off x="1066800" y="824889"/>
            <a:ext cx="10058400" cy="7290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GB" sz="2800" b="1" dirty="0"/>
              <a:t>3.2.3 Voltage-Controlled Oscillator (VCO)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8BF105-AE4B-44C9-B4BE-F955F6233914}"/>
              </a:ext>
            </a:extLst>
          </p:cNvPr>
          <p:cNvSpPr txBox="1"/>
          <p:nvPr/>
        </p:nvSpPr>
        <p:spPr>
          <a:xfrm>
            <a:off x="1066800" y="1464840"/>
            <a:ext cx="2133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Simulation Result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22357A-C635-48DE-9861-CA3DDE304394}"/>
              </a:ext>
            </a:extLst>
          </p:cNvPr>
          <p:cNvSpPr txBox="1"/>
          <p:nvPr/>
        </p:nvSpPr>
        <p:spPr>
          <a:xfrm>
            <a:off x="4411885" y="5838038"/>
            <a:ext cx="5067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Phase noise @ 1 MHz offset  -91.9452 </a:t>
            </a:r>
            <a:r>
              <a:rPr lang="en-US" dirty="0" err="1"/>
              <a:t>dBc</a:t>
            </a:r>
            <a:r>
              <a:rPr lang="en-US" dirty="0"/>
              <a:t>/Hz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895D30-D4DB-4E24-B905-0BD07D64D5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118" y="1949855"/>
            <a:ext cx="7575176" cy="37566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80C32D5-662F-4014-90C9-CB365AF81AC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944" b="24537"/>
          <a:stretch/>
        </p:blipFill>
        <p:spPr>
          <a:xfrm>
            <a:off x="7987329" y="2296506"/>
            <a:ext cx="3945591" cy="306335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32486" y="6090000"/>
            <a:ext cx="82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404040"/>
                </a:solidFill>
                <a:latin typeface="Arial"/>
              </a:rPr>
              <a:t>Ring-oscillator phase-noise theory: A. Hajimiri and T. H. Lee [3]</a:t>
            </a:r>
          </a:p>
        </p:txBody>
      </p:sp>
    </p:spTree>
    <p:extLst>
      <p:ext uri="{BB962C8B-B14F-4D97-AF65-F5344CB8AC3E}">
        <p14:creationId xmlns:p14="http://schemas.microsoft.com/office/powerpoint/2010/main" val="28163851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65BEC-A1DF-DB49-B707-F4003CEA7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27087"/>
            <a:ext cx="10058400" cy="729006"/>
          </a:xfrm>
        </p:spPr>
        <p:txBody>
          <a:bodyPr>
            <a:normAutofit/>
          </a:bodyPr>
          <a:lstStyle/>
          <a:p>
            <a:r>
              <a:rPr lang="en-US" sz="3600" dirty="0"/>
              <a:t>3.2 Design Methods</a:t>
            </a:r>
            <a:endParaRPr lang="en-BD" sz="3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FAFD4-E2E1-B948-84C7-28DD8B57F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22</a:t>
            </a:fld>
            <a:endParaRPr lang="en-BD"/>
          </a:p>
        </p:txBody>
      </p:sp>
      <p:sp>
        <p:nvSpPr>
          <p:cNvPr id="7" name="Date Placeholder 5">
            <a:extLst>
              <a:ext uri="{FF2B5EF4-FFF2-40B4-BE49-F238E27FC236}">
                <a16:creationId xmlns:a16="http://schemas.microsoft.com/office/drawing/2014/main" id="{BFD6422F-12DA-8A45-9AF9-8BFCA12E4A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56363"/>
          </a:xfrm>
        </p:spPr>
        <p:txBody>
          <a:bodyPr/>
          <a:lstStyle/>
          <a:p>
            <a:r>
              <a:rPr lang="en-US"/>
              <a:t>EEE 466 (2026) – Final Project Group 03.G2</a:t>
            </a:r>
            <a:endParaRPr lang="en-BD" dirty="0"/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82DF7523-28E5-1646-96D1-1E49DDA95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3400000" cy="375412"/>
          </a:xfrm>
        </p:spPr>
        <p:txBody>
          <a:bodyPr/>
          <a:lstStyle/>
          <a:p>
            <a:pPr algn="l"/>
            <a:r>
              <a:rPr lang="en-BD" dirty="0"/>
              <a:t>1.2 GHz Charge-Pump PLL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D98CFC-581F-2C4F-57A4-5892CF555A9A}"/>
              </a:ext>
            </a:extLst>
          </p:cNvPr>
          <p:cNvSpPr txBox="1"/>
          <p:nvPr/>
        </p:nvSpPr>
        <p:spPr>
          <a:xfrm>
            <a:off x="875000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Group 03.G2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B032072-7033-4376-B23B-917DBD9334C0}"/>
              </a:ext>
            </a:extLst>
          </p:cNvPr>
          <p:cNvSpPr txBox="1">
            <a:spLocks/>
          </p:cNvSpPr>
          <p:nvPr/>
        </p:nvSpPr>
        <p:spPr>
          <a:xfrm>
            <a:off x="1066800" y="824889"/>
            <a:ext cx="10058400" cy="7290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GB" sz="2800" b="1" dirty="0"/>
              <a:t>3.2.3 Voltage-Controlled Oscillator (VCO)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8BF105-AE4B-44C9-B4BE-F955F6233914}"/>
              </a:ext>
            </a:extLst>
          </p:cNvPr>
          <p:cNvSpPr txBox="1"/>
          <p:nvPr/>
        </p:nvSpPr>
        <p:spPr>
          <a:xfrm>
            <a:off x="1066800" y="1464840"/>
            <a:ext cx="2133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Simulation Result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22357A-C635-48DE-9861-CA3DDE304394}"/>
              </a:ext>
            </a:extLst>
          </p:cNvPr>
          <p:cNvSpPr txBox="1"/>
          <p:nvPr/>
        </p:nvSpPr>
        <p:spPr>
          <a:xfrm>
            <a:off x="5038659" y="5035592"/>
            <a:ext cx="2114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Kvco</a:t>
            </a:r>
            <a:r>
              <a:rPr lang="en-US" dirty="0"/>
              <a:t> Calculation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4CCA63E-2338-4B75-82B6-90E1465819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937" y="1889432"/>
            <a:ext cx="8137988" cy="31343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8AD79DD-3150-4DAD-AEA6-75A063F74F30}"/>
                  </a:ext>
                </a:extLst>
              </p:cNvPr>
              <p:cNvSpPr txBox="1"/>
              <p:nvPr/>
            </p:nvSpPr>
            <p:spPr>
              <a:xfrm>
                <a:off x="1506071" y="5706226"/>
                <a:ext cx="3150542" cy="494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Kvco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=1083.51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𝑀𝐻𝑧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8AD79DD-3150-4DAD-AEA6-75A063F74F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6071" y="5706226"/>
                <a:ext cx="3150542" cy="494110"/>
              </a:xfrm>
              <a:prstGeom prst="rect">
                <a:avLst/>
              </a:prstGeom>
              <a:blipFill>
                <a:blip r:embed="rId3"/>
                <a:stretch>
                  <a:fillRect l="-1547" b="-49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38441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E0F19-37B9-6B4F-A02C-082566766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0CBD0F-D69E-7CD8-9CD5-1B67C16EA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23</a:t>
            </a:fld>
            <a:endParaRPr lang="en-BD"/>
          </a:p>
        </p:txBody>
      </p:sp>
      <p:sp>
        <p:nvSpPr>
          <p:cNvPr id="7" name="Date Placeholder 5">
            <a:extLst>
              <a:ext uri="{FF2B5EF4-FFF2-40B4-BE49-F238E27FC236}">
                <a16:creationId xmlns:a16="http://schemas.microsoft.com/office/drawing/2014/main" id="{A0EA9FA8-C03C-FDBC-FE04-A10CB12D12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56363"/>
          </a:xfrm>
        </p:spPr>
        <p:txBody>
          <a:bodyPr/>
          <a:lstStyle/>
          <a:p>
            <a:r>
              <a:rPr lang="en-US"/>
              <a:t>EEE 466 (2026) – Final Project Group 03.G2</a:t>
            </a:r>
            <a:endParaRPr lang="en-BD" dirty="0"/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736511D4-B9CB-E700-D9ED-10D32FAFE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3400000" cy="375412"/>
          </a:xfrm>
        </p:spPr>
        <p:txBody>
          <a:bodyPr/>
          <a:lstStyle/>
          <a:p>
            <a:pPr algn="l"/>
            <a:r>
              <a:rPr lang="en-BD" dirty="0"/>
              <a:t>1.2 GHz Charge-Pump PLL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D83913-67D9-4C13-F8C9-B2D9B6EAA03D}"/>
              </a:ext>
            </a:extLst>
          </p:cNvPr>
          <p:cNvSpPr txBox="1"/>
          <p:nvPr/>
        </p:nvSpPr>
        <p:spPr>
          <a:xfrm>
            <a:off x="875000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Group 03.G2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26454B-135B-4947-AF98-B1866A1A1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1883" y="1604147"/>
            <a:ext cx="9057512" cy="422635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321ED44-EAEE-4E3D-9E83-F12F1BF9BF76}"/>
              </a:ext>
            </a:extLst>
          </p:cNvPr>
          <p:cNvSpPr txBox="1"/>
          <p:nvPr/>
        </p:nvSpPr>
        <p:spPr>
          <a:xfrm>
            <a:off x="432486" y="6090000"/>
            <a:ext cx="900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0" i="0">
                <a:solidFill>
                  <a:srgbClr val="404040"/>
                </a:solidFill>
                <a:latin typeface="Arial"/>
              </a:rPr>
              <a:t>Source: linear phase-domain CP-PLL model adapted from B. Razavi, </a:t>
            </a:r>
            <a:r>
              <a:rPr sz="1200" b="0" i="1">
                <a:solidFill>
                  <a:srgbClr val="404040"/>
                </a:solidFill>
                <a:latin typeface="Arial"/>
              </a:rPr>
              <a:t>Design of Analog CMOS Integrated Circuits</a:t>
            </a:r>
            <a:r>
              <a:rPr sz="1200" b="0" i="0">
                <a:solidFill>
                  <a:srgbClr val="404040"/>
                </a:solidFill>
                <a:latin typeface="Arial"/>
              </a:rPr>
              <a:t>, Ch. 16 [1]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09407E-1181-9B51-27E1-A44D45686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261" y="277339"/>
            <a:ext cx="10058400" cy="729006"/>
          </a:xfrm>
        </p:spPr>
        <p:txBody>
          <a:bodyPr>
            <a:normAutofit/>
          </a:bodyPr>
          <a:lstStyle/>
          <a:p>
            <a:r>
              <a:rPr lang="en-US" sz="3600" dirty="0"/>
              <a:t>3.2 Design Methods</a:t>
            </a:r>
            <a:endParaRPr lang="en-BD" sz="36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401A8AD-3041-1C3C-E3DF-B87EDE2E819B}"/>
              </a:ext>
            </a:extLst>
          </p:cNvPr>
          <p:cNvSpPr txBox="1">
            <a:spLocks/>
          </p:cNvSpPr>
          <p:nvPr/>
        </p:nvSpPr>
        <p:spPr>
          <a:xfrm>
            <a:off x="628261" y="875141"/>
            <a:ext cx="10058400" cy="7290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GB" sz="2800" b="1" dirty="0"/>
              <a:t>3.2.4 Linear Loop Model</a:t>
            </a:r>
          </a:p>
        </p:txBody>
      </p:sp>
    </p:spTree>
    <p:extLst>
      <p:ext uri="{BB962C8B-B14F-4D97-AF65-F5344CB8AC3E}">
        <p14:creationId xmlns:p14="http://schemas.microsoft.com/office/powerpoint/2010/main" val="26207345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A236F-A72C-F653-DE8B-E22CFBF0B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53E36-555A-7258-9204-3E0EDF808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27087"/>
            <a:ext cx="10058400" cy="729006"/>
          </a:xfrm>
        </p:spPr>
        <p:txBody>
          <a:bodyPr>
            <a:normAutofit/>
          </a:bodyPr>
          <a:lstStyle/>
          <a:p>
            <a:r>
              <a:rPr lang="en-US" sz="3600" dirty="0"/>
              <a:t>3.2 Design Methods</a:t>
            </a:r>
            <a:endParaRPr lang="en-BD" sz="3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66EA31-DBB5-D263-812F-566665F99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24</a:t>
            </a:fld>
            <a:endParaRPr lang="en-BD"/>
          </a:p>
        </p:txBody>
      </p:sp>
      <p:sp>
        <p:nvSpPr>
          <p:cNvPr id="7" name="Date Placeholder 5">
            <a:extLst>
              <a:ext uri="{FF2B5EF4-FFF2-40B4-BE49-F238E27FC236}">
                <a16:creationId xmlns:a16="http://schemas.microsoft.com/office/drawing/2014/main" id="{78D3B7FC-3159-DC08-6CC9-9DD1469517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56363"/>
          </a:xfrm>
        </p:spPr>
        <p:txBody>
          <a:bodyPr/>
          <a:lstStyle/>
          <a:p>
            <a:r>
              <a:rPr lang="en-US"/>
              <a:t>EEE 466 (2026) – Final Project Group 03.G2</a:t>
            </a:r>
            <a:endParaRPr lang="en-BD" dirty="0"/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B1C44A28-252E-7BD2-BC17-6612DD581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3400000" cy="375412"/>
          </a:xfrm>
        </p:spPr>
        <p:txBody>
          <a:bodyPr/>
          <a:lstStyle/>
          <a:p>
            <a:pPr algn="l"/>
            <a:r>
              <a:rPr lang="en-BD" dirty="0"/>
              <a:t>1.2 GHz Charge-Pump PLL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C9B966-29BF-64F8-3EA9-4A38A67A6EBF}"/>
              </a:ext>
            </a:extLst>
          </p:cNvPr>
          <p:cNvSpPr txBox="1"/>
          <p:nvPr/>
        </p:nvSpPr>
        <p:spPr>
          <a:xfrm>
            <a:off x="875000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Group 03.G2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96F31B5-AD20-7169-E336-AC394D0926D4}"/>
              </a:ext>
            </a:extLst>
          </p:cNvPr>
          <p:cNvSpPr txBox="1">
            <a:spLocks/>
          </p:cNvSpPr>
          <p:nvPr/>
        </p:nvSpPr>
        <p:spPr>
          <a:xfrm>
            <a:off x="1066800" y="824889"/>
            <a:ext cx="10058400" cy="7290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GB" sz="2800" b="1" dirty="0"/>
              <a:t>3.2.4 Loop Filter (LF)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211CB7-A45E-FE0A-42DC-4C5BBE65D6DB}"/>
              </a:ext>
            </a:extLst>
          </p:cNvPr>
          <p:cNvSpPr txBox="1"/>
          <p:nvPr/>
        </p:nvSpPr>
        <p:spPr>
          <a:xfrm>
            <a:off x="1164984" y="1509003"/>
            <a:ext cx="962063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dirty="0"/>
              <a:t>Loop Filter Design (passive 2nd-order: R–C0 series ∥ C1 → 3rd-order loop)</a:t>
            </a:r>
          </a:p>
          <a:p>
            <a:endParaRPr lang="en-SG" dirty="0"/>
          </a:p>
          <a:p>
            <a:r>
              <a:rPr lang="en-SG" dirty="0"/>
              <a:t>Given: ICP = 50 µA, KVCO = 1.08 GHz/V, N = 16,</a:t>
            </a:r>
          </a:p>
          <a:p>
            <a:r>
              <a:rPr lang="en-SG" dirty="0"/>
              <a:t>       fc = 3.75 MHz (</a:t>
            </a:r>
            <a:r>
              <a:rPr lang="en-SG" dirty="0" err="1"/>
              <a:t>ωc</a:t>
            </a:r>
            <a:r>
              <a:rPr lang="en-SG" dirty="0"/>
              <a:t> = 2.356×10^7 rad/s), PM = 60°</a:t>
            </a:r>
          </a:p>
          <a:p>
            <a:endParaRPr lang="en-SG" dirty="0"/>
          </a:p>
          <a:p>
            <a:r>
              <a:rPr lang="en-SG" dirty="0"/>
              <a:t>1. Pole at 5×ωc (ripple suppression):</a:t>
            </a:r>
          </a:p>
          <a:p>
            <a:r>
              <a:rPr lang="en-SG" dirty="0"/>
              <a:t>   </a:t>
            </a:r>
            <a:r>
              <a:rPr lang="en-SG" dirty="0" err="1"/>
              <a:t>ωp</a:t>
            </a:r>
            <a:r>
              <a:rPr lang="en-SG" dirty="0"/>
              <a:t> = 5ωc = 1.178×10^8 rad/s  →  </a:t>
            </a:r>
            <a:r>
              <a:rPr lang="en-SG" dirty="0" err="1"/>
              <a:t>Tp</a:t>
            </a:r>
            <a:r>
              <a:rPr lang="en-SG" dirty="0"/>
              <a:t> = 8.49 ns</a:t>
            </a:r>
          </a:p>
          <a:p>
            <a:r>
              <a:rPr lang="en-SG" dirty="0"/>
              <a:t>   Phase lost = tan⁻¹(1/5) = 11.31°</a:t>
            </a:r>
          </a:p>
          <a:p>
            <a:endParaRPr lang="en-SG" dirty="0"/>
          </a:p>
          <a:p>
            <a:r>
              <a:rPr lang="en-SG" dirty="0"/>
              <a:t>2. Zero for PM = 60°:</a:t>
            </a:r>
          </a:p>
          <a:p>
            <a:r>
              <a:rPr lang="en-SG" dirty="0"/>
              <a:t>   tan⁻¹(</a:t>
            </a:r>
            <a:r>
              <a:rPr lang="en-SG" dirty="0" err="1"/>
              <a:t>ωc</a:t>
            </a:r>
            <a:r>
              <a:rPr lang="en-SG" dirty="0"/>
              <a:t>/</a:t>
            </a:r>
            <a:r>
              <a:rPr lang="en-SG" dirty="0" err="1"/>
              <a:t>ωz</a:t>
            </a:r>
            <a:r>
              <a:rPr lang="en-SG" dirty="0"/>
              <a:t>) = 60° + 11.31° = 71.31°  →  </a:t>
            </a:r>
            <a:r>
              <a:rPr lang="en-SG" dirty="0" err="1"/>
              <a:t>ωc</a:t>
            </a:r>
            <a:r>
              <a:rPr lang="en-SG" dirty="0"/>
              <a:t>/</a:t>
            </a:r>
            <a:r>
              <a:rPr lang="en-SG" dirty="0" err="1"/>
              <a:t>ωz</a:t>
            </a:r>
            <a:r>
              <a:rPr lang="en-SG" dirty="0"/>
              <a:t> = 2.956</a:t>
            </a:r>
          </a:p>
          <a:p>
            <a:r>
              <a:rPr lang="en-SG" dirty="0"/>
              <a:t>   </a:t>
            </a:r>
            <a:r>
              <a:rPr lang="en-SG" dirty="0" err="1"/>
              <a:t>ωz</a:t>
            </a:r>
            <a:r>
              <a:rPr lang="en-SG" dirty="0"/>
              <a:t> = 7.97×10^6 rad/s (1.27 MHz)  →  </a:t>
            </a:r>
            <a:r>
              <a:rPr lang="en-SG" dirty="0" err="1"/>
              <a:t>Tz</a:t>
            </a:r>
            <a:r>
              <a:rPr lang="en-SG" dirty="0"/>
              <a:t> = 125.5 ns</a:t>
            </a:r>
          </a:p>
          <a:p>
            <a:endParaRPr lang="en-SG" dirty="0"/>
          </a:p>
          <a:p>
            <a:r>
              <a:rPr lang="en-SG" dirty="0"/>
              <a:t>3. Total capacitance (|L(</a:t>
            </a:r>
            <a:r>
              <a:rPr lang="en-SG" dirty="0" err="1"/>
              <a:t>jωc</a:t>
            </a:r>
            <a:r>
              <a:rPr lang="en-SG" dirty="0"/>
              <a:t>)| = 1):</a:t>
            </a:r>
          </a:p>
          <a:p>
            <a:r>
              <a:rPr lang="en-SG" dirty="0"/>
              <a:t>   </a:t>
            </a:r>
            <a:r>
              <a:rPr lang="en-SG" dirty="0" err="1"/>
              <a:t>Ctot</a:t>
            </a:r>
            <a:r>
              <a:rPr lang="en-SG" dirty="0"/>
              <a:t> = [ICP·KVCO / (2π·N·ωc²)] · √(1+(</a:t>
            </a:r>
            <a:r>
              <a:rPr lang="en-SG" dirty="0" err="1"/>
              <a:t>ωcTz</a:t>
            </a:r>
            <a:r>
              <a:rPr lang="en-SG" dirty="0"/>
              <a:t>)²) / √(1+(</a:t>
            </a:r>
            <a:r>
              <a:rPr lang="en-SG" dirty="0" err="1"/>
              <a:t>ωcTp</a:t>
            </a:r>
            <a:r>
              <a:rPr lang="en-SG" dirty="0"/>
              <a:t>)²)</a:t>
            </a:r>
          </a:p>
          <a:p>
            <a:r>
              <a:rPr lang="en-SG" dirty="0"/>
              <a:t>        = 5.967 pF × 3.060 = 18.26 pF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486" y="6090000"/>
            <a:ext cx="82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404040"/>
                </a:solidFill>
                <a:latin typeface="Arial"/>
              </a:rPr>
              <a:t>Loop-filter design procedure: [1], [4], [5]</a:t>
            </a:r>
          </a:p>
        </p:txBody>
      </p:sp>
    </p:spTree>
    <p:extLst>
      <p:ext uri="{BB962C8B-B14F-4D97-AF65-F5344CB8AC3E}">
        <p14:creationId xmlns:p14="http://schemas.microsoft.com/office/powerpoint/2010/main" val="14261279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65BEC-A1DF-DB49-B707-F4003CEA7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27087"/>
            <a:ext cx="10058400" cy="729006"/>
          </a:xfrm>
        </p:spPr>
        <p:txBody>
          <a:bodyPr>
            <a:normAutofit/>
          </a:bodyPr>
          <a:lstStyle/>
          <a:p>
            <a:r>
              <a:rPr lang="en-US" sz="3600" dirty="0"/>
              <a:t>3.2 Design Methods</a:t>
            </a:r>
            <a:endParaRPr lang="en-BD" sz="3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FAFD4-E2E1-B948-84C7-28DD8B57F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25</a:t>
            </a:fld>
            <a:endParaRPr lang="en-BD"/>
          </a:p>
        </p:txBody>
      </p:sp>
      <p:sp>
        <p:nvSpPr>
          <p:cNvPr id="7" name="Date Placeholder 5">
            <a:extLst>
              <a:ext uri="{FF2B5EF4-FFF2-40B4-BE49-F238E27FC236}">
                <a16:creationId xmlns:a16="http://schemas.microsoft.com/office/drawing/2014/main" id="{BFD6422F-12DA-8A45-9AF9-8BFCA12E4A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56363"/>
          </a:xfrm>
        </p:spPr>
        <p:txBody>
          <a:bodyPr/>
          <a:lstStyle/>
          <a:p>
            <a:r>
              <a:rPr lang="en-US"/>
              <a:t>EEE 466 (2026) – Final Project Group 03.G2</a:t>
            </a:r>
            <a:endParaRPr lang="en-BD" dirty="0"/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82DF7523-28E5-1646-96D1-1E49DDA95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3400000" cy="375412"/>
          </a:xfrm>
        </p:spPr>
        <p:txBody>
          <a:bodyPr/>
          <a:lstStyle/>
          <a:p>
            <a:pPr algn="l"/>
            <a:r>
              <a:rPr lang="en-BD" dirty="0"/>
              <a:t>1.2 GHz Charge-Pump PLL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D98CFC-581F-2C4F-57A4-5892CF555A9A}"/>
              </a:ext>
            </a:extLst>
          </p:cNvPr>
          <p:cNvSpPr txBox="1"/>
          <p:nvPr/>
        </p:nvSpPr>
        <p:spPr>
          <a:xfrm>
            <a:off x="875000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Group 03.G2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B032072-7033-4376-B23B-917DBD9334C0}"/>
              </a:ext>
            </a:extLst>
          </p:cNvPr>
          <p:cNvSpPr txBox="1">
            <a:spLocks/>
          </p:cNvSpPr>
          <p:nvPr/>
        </p:nvSpPr>
        <p:spPr>
          <a:xfrm>
            <a:off x="1066800" y="824889"/>
            <a:ext cx="10058400" cy="7290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GB" sz="2800" b="1" dirty="0"/>
              <a:t>3.2.4 Loop Filter (LF)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C4A33F-6BA7-4D30-9FDC-4D560E447A57}"/>
              </a:ext>
            </a:extLst>
          </p:cNvPr>
          <p:cNvSpPr txBox="1"/>
          <p:nvPr/>
        </p:nvSpPr>
        <p:spPr>
          <a:xfrm>
            <a:off x="8498541" y="6005776"/>
            <a:ext cx="1378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Schematic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A4AF0F0-136E-4346-B8E5-53BD335CED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6151"/>
          <a:stretch/>
        </p:blipFill>
        <p:spPr>
          <a:xfrm>
            <a:off x="6998536" y="1189392"/>
            <a:ext cx="4063911" cy="47324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E24F3B0-324E-7143-B4E1-7D69518BE2B8}"/>
              </a:ext>
            </a:extLst>
          </p:cNvPr>
          <p:cNvSpPr txBox="1"/>
          <p:nvPr/>
        </p:nvSpPr>
        <p:spPr>
          <a:xfrm>
            <a:off x="609527" y="1431896"/>
            <a:ext cx="962063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SG" dirty="0"/>
          </a:p>
          <a:p>
            <a:r>
              <a:rPr lang="en-SG" dirty="0"/>
              <a:t>4. Component values:</a:t>
            </a:r>
          </a:p>
          <a:p>
            <a:r>
              <a:rPr lang="en-SG" dirty="0"/>
              <a:t>   C1 = </a:t>
            </a:r>
            <a:r>
              <a:rPr lang="en-SG" dirty="0" err="1"/>
              <a:t>Ctot·Tp</a:t>
            </a:r>
            <a:r>
              <a:rPr lang="en-SG" dirty="0"/>
              <a:t>/</a:t>
            </a:r>
            <a:r>
              <a:rPr lang="en-SG" dirty="0" err="1"/>
              <a:t>Tz</a:t>
            </a:r>
            <a:r>
              <a:rPr lang="en-SG" dirty="0"/>
              <a:t> = 1.235 pF</a:t>
            </a:r>
          </a:p>
          <a:p>
            <a:r>
              <a:rPr lang="en-SG" dirty="0"/>
              <a:t>   C0 = </a:t>
            </a:r>
            <a:r>
              <a:rPr lang="en-SG" dirty="0" err="1"/>
              <a:t>Ctot</a:t>
            </a:r>
            <a:r>
              <a:rPr lang="en-SG" dirty="0"/>
              <a:t> − C1  = 17.02 pF</a:t>
            </a:r>
          </a:p>
          <a:p>
            <a:r>
              <a:rPr lang="en-SG" dirty="0"/>
              <a:t>   R  = </a:t>
            </a:r>
            <a:r>
              <a:rPr lang="en-SG" dirty="0" err="1"/>
              <a:t>Tz</a:t>
            </a:r>
            <a:r>
              <a:rPr lang="en-SG" dirty="0"/>
              <a:t> / C0    = 7.37 </a:t>
            </a:r>
            <a:r>
              <a:rPr lang="en-SG" dirty="0" err="1"/>
              <a:t>kΩ</a:t>
            </a:r>
            <a:endParaRPr lang="en-SG" dirty="0"/>
          </a:p>
          <a:p>
            <a:endParaRPr lang="en-SG" dirty="0"/>
          </a:p>
          <a:p>
            <a:r>
              <a:rPr lang="en-SG" dirty="0"/>
              <a:t>Implemented (GPDK045):</a:t>
            </a:r>
          </a:p>
          <a:p>
            <a:r>
              <a:rPr lang="en-SG" dirty="0"/>
              <a:t>   C0: </a:t>
            </a:r>
            <a:r>
              <a:rPr lang="en-SG" dirty="0" err="1"/>
              <a:t>mimcap</a:t>
            </a:r>
            <a:r>
              <a:rPr lang="en-SG" dirty="0"/>
              <a:t>, c = 37.54 </a:t>
            </a:r>
            <a:r>
              <a:rPr lang="en-SG" dirty="0" err="1"/>
              <a:t>fF</a:t>
            </a:r>
            <a:r>
              <a:rPr lang="en-SG" dirty="0"/>
              <a:t> × m = 445  →  16.71 pF</a:t>
            </a:r>
          </a:p>
          <a:p>
            <a:r>
              <a:rPr lang="en-SG" dirty="0"/>
              <a:t>   C1: </a:t>
            </a:r>
            <a:r>
              <a:rPr lang="en-SG" dirty="0" err="1"/>
              <a:t>mimcap</a:t>
            </a:r>
            <a:r>
              <a:rPr lang="en-SG" dirty="0"/>
              <a:t>, c = 36.67 </a:t>
            </a:r>
            <a:r>
              <a:rPr lang="en-SG" dirty="0" err="1"/>
              <a:t>fF</a:t>
            </a:r>
            <a:r>
              <a:rPr lang="en-SG" dirty="0"/>
              <a:t> × m = 33   →  1.21 pF</a:t>
            </a:r>
          </a:p>
          <a:p>
            <a:r>
              <a:rPr lang="en-SG" dirty="0"/>
              <a:t>   R3: </a:t>
            </a:r>
            <a:r>
              <a:rPr lang="en-SG" dirty="0" err="1"/>
              <a:t>resnsppoly</a:t>
            </a:r>
            <a:r>
              <a:rPr lang="en-SG" dirty="0"/>
              <a:t>, </a:t>
            </a:r>
            <a:r>
              <a:rPr lang="en-SG" dirty="0" err="1"/>
              <a:t>segL</a:t>
            </a:r>
            <a:r>
              <a:rPr lang="en-SG" dirty="0"/>
              <a:t> = 10.5 µm      →  6.82 k</a:t>
            </a:r>
            <a:r>
              <a:rPr lang="el-GR" dirty="0"/>
              <a:t>Ω</a:t>
            </a:r>
            <a:endParaRPr lang="en-US" dirty="0"/>
          </a:p>
          <a:p>
            <a:endParaRPr lang="en-SG" dirty="0"/>
          </a:p>
          <a:p>
            <a:r>
              <a:rPr lang="en-SG" dirty="0"/>
              <a:t>Result (linear model): Loop BW = 3.752 MHz, PM = 60.01°</a:t>
            </a:r>
          </a:p>
        </p:txBody>
      </p:sp>
    </p:spTree>
    <p:extLst>
      <p:ext uri="{BB962C8B-B14F-4D97-AF65-F5344CB8AC3E}">
        <p14:creationId xmlns:p14="http://schemas.microsoft.com/office/powerpoint/2010/main" val="3449702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65BEC-A1DF-DB49-B707-F4003CEA7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27087"/>
            <a:ext cx="10058400" cy="729006"/>
          </a:xfrm>
        </p:spPr>
        <p:txBody>
          <a:bodyPr>
            <a:normAutofit/>
          </a:bodyPr>
          <a:lstStyle/>
          <a:p>
            <a:r>
              <a:rPr lang="en-US" sz="3600" dirty="0"/>
              <a:t>3.2 Design Methods</a:t>
            </a:r>
            <a:endParaRPr lang="en-BD" sz="3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FAFD4-E2E1-B948-84C7-28DD8B57F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26</a:t>
            </a:fld>
            <a:endParaRPr lang="en-BD"/>
          </a:p>
        </p:txBody>
      </p:sp>
      <p:sp>
        <p:nvSpPr>
          <p:cNvPr id="7" name="Date Placeholder 5">
            <a:extLst>
              <a:ext uri="{FF2B5EF4-FFF2-40B4-BE49-F238E27FC236}">
                <a16:creationId xmlns:a16="http://schemas.microsoft.com/office/drawing/2014/main" id="{BFD6422F-12DA-8A45-9AF9-8BFCA12E4A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56363"/>
          </a:xfrm>
        </p:spPr>
        <p:txBody>
          <a:bodyPr/>
          <a:lstStyle/>
          <a:p>
            <a:r>
              <a:rPr lang="en-US"/>
              <a:t>EEE 466 (2026) – Final Project Group 03.G2</a:t>
            </a:r>
            <a:endParaRPr lang="en-BD" dirty="0"/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82DF7523-28E5-1646-96D1-1E49DDA95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3400000" cy="375412"/>
          </a:xfrm>
        </p:spPr>
        <p:txBody>
          <a:bodyPr/>
          <a:lstStyle/>
          <a:p>
            <a:pPr algn="l"/>
            <a:r>
              <a:rPr lang="en-BD" dirty="0"/>
              <a:t>1.2 GHz Charge-Pump PLL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D98CFC-581F-2C4F-57A4-5892CF555A9A}"/>
              </a:ext>
            </a:extLst>
          </p:cNvPr>
          <p:cNvSpPr txBox="1"/>
          <p:nvPr/>
        </p:nvSpPr>
        <p:spPr>
          <a:xfrm>
            <a:off x="875000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Group 03.G2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B032072-7033-4376-B23B-917DBD9334C0}"/>
              </a:ext>
            </a:extLst>
          </p:cNvPr>
          <p:cNvSpPr txBox="1">
            <a:spLocks/>
          </p:cNvSpPr>
          <p:nvPr/>
        </p:nvSpPr>
        <p:spPr>
          <a:xfrm>
            <a:off x="1066800" y="824889"/>
            <a:ext cx="10058400" cy="7290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GB" sz="2800" b="1" dirty="0"/>
              <a:t>3.2.4 Loop Filter (LF)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46834F-FA3D-4B10-B24D-46D80B383486}"/>
              </a:ext>
            </a:extLst>
          </p:cNvPr>
          <p:cNvSpPr txBox="1"/>
          <p:nvPr/>
        </p:nvSpPr>
        <p:spPr>
          <a:xfrm>
            <a:off x="1066800" y="1553895"/>
            <a:ext cx="9268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Layout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944E38C-454A-4AB5-92B1-37A319ED6A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0675" y="1572944"/>
            <a:ext cx="6233700" cy="466384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B8AC5C3-6DEF-49CE-B00B-61AC5E8BEF0B}"/>
              </a:ext>
            </a:extLst>
          </p:cNvPr>
          <p:cNvSpPr txBox="1"/>
          <p:nvPr/>
        </p:nvSpPr>
        <p:spPr>
          <a:xfrm>
            <a:off x="9027459" y="3113295"/>
            <a:ext cx="245772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Width – 513.135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µm</a:t>
            </a:r>
            <a:endParaRPr lang="en-US" dirty="0"/>
          </a:p>
          <a:p>
            <a:r>
              <a:rPr lang="en-US" dirty="0"/>
              <a:t>Height – 394.495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µm</a:t>
            </a:r>
            <a:endParaRPr lang="en-US" dirty="0"/>
          </a:p>
          <a:p>
            <a:endParaRPr lang="en-US" dirty="0"/>
          </a:p>
          <a:p>
            <a:r>
              <a:rPr lang="en-US" dirty="0"/>
              <a:t>Area = 202,429 µm²</a:t>
            </a:r>
          </a:p>
          <a:p>
            <a:r>
              <a:rPr lang="en-US" dirty="0"/>
              <a:t>          = 0.2024 mm²</a:t>
            </a:r>
          </a:p>
        </p:txBody>
      </p:sp>
    </p:spTree>
    <p:extLst>
      <p:ext uri="{BB962C8B-B14F-4D97-AF65-F5344CB8AC3E}">
        <p14:creationId xmlns:p14="http://schemas.microsoft.com/office/powerpoint/2010/main" val="26945945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65BEC-A1DF-DB49-B707-F4003CEA7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27087"/>
            <a:ext cx="10058400" cy="729006"/>
          </a:xfrm>
        </p:spPr>
        <p:txBody>
          <a:bodyPr>
            <a:normAutofit/>
          </a:bodyPr>
          <a:lstStyle/>
          <a:p>
            <a:r>
              <a:rPr lang="en-US" sz="3600" dirty="0"/>
              <a:t>3.2 Design Methods</a:t>
            </a:r>
            <a:endParaRPr lang="en-BD" sz="3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FAFD4-E2E1-B948-84C7-28DD8B57F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27</a:t>
            </a:fld>
            <a:endParaRPr lang="en-BD"/>
          </a:p>
        </p:txBody>
      </p:sp>
      <p:sp>
        <p:nvSpPr>
          <p:cNvPr id="7" name="Date Placeholder 5">
            <a:extLst>
              <a:ext uri="{FF2B5EF4-FFF2-40B4-BE49-F238E27FC236}">
                <a16:creationId xmlns:a16="http://schemas.microsoft.com/office/drawing/2014/main" id="{BFD6422F-12DA-8A45-9AF9-8BFCA12E4A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56363"/>
          </a:xfrm>
        </p:spPr>
        <p:txBody>
          <a:bodyPr/>
          <a:lstStyle/>
          <a:p>
            <a:r>
              <a:rPr lang="en-US"/>
              <a:t>EEE 466 (2026) – Final Project Group 03.G2</a:t>
            </a:r>
            <a:endParaRPr lang="en-BD" dirty="0"/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82DF7523-28E5-1646-96D1-1E49DDA95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3400000" cy="375412"/>
          </a:xfrm>
        </p:spPr>
        <p:txBody>
          <a:bodyPr/>
          <a:lstStyle/>
          <a:p>
            <a:pPr algn="l"/>
            <a:r>
              <a:rPr lang="en-BD" dirty="0"/>
              <a:t>1.2 GHz Charge-Pump PLL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D98CFC-581F-2C4F-57A4-5892CF555A9A}"/>
              </a:ext>
            </a:extLst>
          </p:cNvPr>
          <p:cNvSpPr txBox="1"/>
          <p:nvPr/>
        </p:nvSpPr>
        <p:spPr>
          <a:xfrm>
            <a:off x="875000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Group 03.G2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B032072-7033-4376-B23B-917DBD9334C0}"/>
              </a:ext>
            </a:extLst>
          </p:cNvPr>
          <p:cNvSpPr txBox="1">
            <a:spLocks/>
          </p:cNvSpPr>
          <p:nvPr/>
        </p:nvSpPr>
        <p:spPr>
          <a:xfrm>
            <a:off x="1066800" y="824889"/>
            <a:ext cx="10058400" cy="7290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GB" sz="2800" b="1" dirty="0"/>
              <a:t>3.2.5 Frequency Divider (÷16)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46834F-FA3D-4B10-B24D-46D80B383486}"/>
              </a:ext>
            </a:extLst>
          </p:cNvPr>
          <p:cNvSpPr txBox="1"/>
          <p:nvPr/>
        </p:nvSpPr>
        <p:spPr>
          <a:xfrm>
            <a:off x="1066800" y="1553895"/>
            <a:ext cx="1378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Schematic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3085BD-73F5-457A-B944-025EBB623FF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3523" b="8566"/>
          <a:stretch/>
        </p:blipFill>
        <p:spPr>
          <a:xfrm>
            <a:off x="818692" y="2678661"/>
            <a:ext cx="10554615" cy="2328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9542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65BEC-A1DF-DB49-B707-F4003CEA7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27087"/>
            <a:ext cx="10058400" cy="729006"/>
          </a:xfrm>
        </p:spPr>
        <p:txBody>
          <a:bodyPr>
            <a:normAutofit/>
          </a:bodyPr>
          <a:lstStyle/>
          <a:p>
            <a:r>
              <a:rPr lang="en-US" sz="3600" dirty="0"/>
              <a:t>3.2 Design Methods</a:t>
            </a:r>
            <a:endParaRPr lang="en-BD" sz="3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FAFD4-E2E1-B948-84C7-28DD8B57F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28</a:t>
            </a:fld>
            <a:endParaRPr lang="en-BD"/>
          </a:p>
        </p:txBody>
      </p:sp>
      <p:sp>
        <p:nvSpPr>
          <p:cNvPr id="7" name="Date Placeholder 5">
            <a:extLst>
              <a:ext uri="{FF2B5EF4-FFF2-40B4-BE49-F238E27FC236}">
                <a16:creationId xmlns:a16="http://schemas.microsoft.com/office/drawing/2014/main" id="{BFD6422F-12DA-8A45-9AF9-8BFCA12E4A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56363"/>
          </a:xfrm>
        </p:spPr>
        <p:txBody>
          <a:bodyPr/>
          <a:lstStyle/>
          <a:p>
            <a:r>
              <a:rPr lang="en-US"/>
              <a:t>EEE 466 (2026) – Final Project Group 03.G2</a:t>
            </a:r>
            <a:endParaRPr lang="en-BD" dirty="0"/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82DF7523-28E5-1646-96D1-1E49DDA95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3400000" cy="375412"/>
          </a:xfrm>
        </p:spPr>
        <p:txBody>
          <a:bodyPr/>
          <a:lstStyle/>
          <a:p>
            <a:pPr algn="l"/>
            <a:r>
              <a:rPr lang="en-BD" dirty="0"/>
              <a:t>1.2 GHz Charge-Pump PLL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D98CFC-581F-2C4F-57A4-5892CF555A9A}"/>
              </a:ext>
            </a:extLst>
          </p:cNvPr>
          <p:cNvSpPr txBox="1"/>
          <p:nvPr/>
        </p:nvSpPr>
        <p:spPr>
          <a:xfrm>
            <a:off x="875000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Group 03.G2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B032072-7033-4376-B23B-917DBD9334C0}"/>
              </a:ext>
            </a:extLst>
          </p:cNvPr>
          <p:cNvSpPr txBox="1">
            <a:spLocks/>
          </p:cNvSpPr>
          <p:nvPr/>
        </p:nvSpPr>
        <p:spPr>
          <a:xfrm>
            <a:off x="1066800" y="824889"/>
            <a:ext cx="10058400" cy="7290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GB" sz="2800" b="1" dirty="0"/>
              <a:t>3.2.5 Frequency Divider (÷16)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46834F-FA3D-4B10-B24D-46D80B383486}"/>
              </a:ext>
            </a:extLst>
          </p:cNvPr>
          <p:cNvSpPr txBox="1"/>
          <p:nvPr/>
        </p:nvSpPr>
        <p:spPr>
          <a:xfrm>
            <a:off x="1066800" y="1553895"/>
            <a:ext cx="9268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Layout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CFB672-61DD-482A-9244-C0C00FF3C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62" y="2370692"/>
            <a:ext cx="10798476" cy="211854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93A7C84-BC27-4A24-ACAE-C86DBD89F927}"/>
              </a:ext>
            </a:extLst>
          </p:cNvPr>
          <p:cNvSpPr txBox="1"/>
          <p:nvPr/>
        </p:nvSpPr>
        <p:spPr>
          <a:xfrm>
            <a:off x="700000" y="5203122"/>
            <a:ext cx="10800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Width – 37.405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µm        </a:t>
            </a:r>
            <a:r>
              <a:rPr lang="en-US" dirty="0"/>
              <a:t>Height – 5.7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µm        </a:t>
            </a:r>
            <a:r>
              <a:rPr lang="en-US" dirty="0"/>
              <a:t>Area = 213.2 µm² = 0.0002132 mm²</a:t>
            </a:r>
          </a:p>
        </p:txBody>
      </p:sp>
    </p:spTree>
    <p:extLst>
      <p:ext uri="{BB962C8B-B14F-4D97-AF65-F5344CB8AC3E}">
        <p14:creationId xmlns:p14="http://schemas.microsoft.com/office/powerpoint/2010/main" val="4150517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65BEC-A1DF-DB49-B707-F4003CEA7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27087"/>
            <a:ext cx="10058400" cy="729006"/>
          </a:xfrm>
        </p:spPr>
        <p:txBody>
          <a:bodyPr>
            <a:normAutofit/>
          </a:bodyPr>
          <a:lstStyle/>
          <a:p>
            <a:r>
              <a:rPr lang="en-US" sz="3600" dirty="0"/>
              <a:t>3.2 Design Methods</a:t>
            </a:r>
            <a:endParaRPr lang="en-BD" sz="3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FAFD4-E2E1-B948-84C7-28DD8B57F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29</a:t>
            </a:fld>
            <a:endParaRPr lang="en-BD"/>
          </a:p>
        </p:txBody>
      </p:sp>
      <p:sp>
        <p:nvSpPr>
          <p:cNvPr id="7" name="Date Placeholder 5">
            <a:extLst>
              <a:ext uri="{FF2B5EF4-FFF2-40B4-BE49-F238E27FC236}">
                <a16:creationId xmlns:a16="http://schemas.microsoft.com/office/drawing/2014/main" id="{BFD6422F-12DA-8A45-9AF9-8BFCA12E4A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56363"/>
          </a:xfrm>
        </p:spPr>
        <p:txBody>
          <a:bodyPr/>
          <a:lstStyle/>
          <a:p>
            <a:r>
              <a:rPr lang="en-US"/>
              <a:t>EEE 466 (2026) – Final Project Group 03.G2</a:t>
            </a:r>
            <a:endParaRPr lang="en-BD" dirty="0"/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82DF7523-28E5-1646-96D1-1E49DDA95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3400000" cy="375412"/>
          </a:xfrm>
        </p:spPr>
        <p:txBody>
          <a:bodyPr/>
          <a:lstStyle/>
          <a:p>
            <a:pPr algn="l"/>
            <a:r>
              <a:rPr lang="en-BD" dirty="0"/>
              <a:t>1.2 GHz Charge-Pump PLL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D98CFC-581F-2C4F-57A4-5892CF555A9A}"/>
              </a:ext>
            </a:extLst>
          </p:cNvPr>
          <p:cNvSpPr txBox="1"/>
          <p:nvPr/>
        </p:nvSpPr>
        <p:spPr>
          <a:xfrm>
            <a:off x="875000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Group 03.G2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B032072-7033-4376-B23B-917DBD9334C0}"/>
              </a:ext>
            </a:extLst>
          </p:cNvPr>
          <p:cNvSpPr txBox="1">
            <a:spLocks/>
          </p:cNvSpPr>
          <p:nvPr/>
        </p:nvSpPr>
        <p:spPr>
          <a:xfrm>
            <a:off x="1066800" y="824889"/>
            <a:ext cx="10058400" cy="7290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GB" sz="2800" b="1" dirty="0"/>
              <a:t>3.2.5 Frequency Divider (÷16)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46834F-FA3D-4B10-B24D-46D80B383486}"/>
              </a:ext>
            </a:extLst>
          </p:cNvPr>
          <p:cNvSpPr txBox="1"/>
          <p:nvPr/>
        </p:nvSpPr>
        <p:spPr>
          <a:xfrm>
            <a:off x="1066800" y="1553895"/>
            <a:ext cx="2044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Simulation Result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F90414-8D6E-485E-8240-3AFE5D261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0546" y="2151697"/>
            <a:ext cx="8010907" cy="304164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5639A26-FE57-4F1E-A346-090CDCEF85C1}"/>
              </a:ext>
            </a:extLst>
          </p:cNvPr>
          <p:cNvSpPr txBox="1"/>
          <p:nvPr/>
        </p:nvSpPr>
        <p:spPr>
          <a:xfrm>
            <a:off x="1590027" y="5538099"/>
            <a:ext cx="9256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16 cycles of the input wave (red) are equal to 1 cycle of the output wave (green)</a:t>
            </a:r>
          </a:p>
        </p:txBody>
      </p:sp>
    </p:spTree>
    <p:extLst>
      <p:ext uri="{BB962C8B-B14F-4D97-AF65-F5344CB8AC3E}">
        <p14:creationId xmlns:p14="http://schemas.microsoft.com/office/powerpoint/2010/main" val="41801469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65BEC-A1DF-DB49-B707-F4003CEA7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799" y="165238"/>
            <a:ext cx="10058400" cy="729006"/>
          </a:xfrm>
        </p:spPr>
        <p:txBody>
          <a:bodyPr>
            <a:normAutofit/>
          </a:bodyPr>
          <a:lstStyle/>
          <a:p>
            <a:r>
              <a:rPr lang="en-US" sz="3600" dirty="0"/>
              <a:t>3.3 Design: Final Circuit Diagram</a:t>
            </a:r>
            <a:endParaRPr lang="en-BD" sz="3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FAFD4-E2E1-B948-84C7-28DD8B57F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30</a:t>
            </a:fld>
            <a:endParaRPr lang="en-BD"/>
          </a:p>
        </p:txBody>
      </p:sp>
      <p:sp>
        <p:nvSpPr>
          <p:cNvPr id="7" name="Date Placeholder 5">
            <a:extLst>
              <a:ext uri="{FF2B5EF4-FFF2-40B4-BE49-F238E27FC236}">
                <a16:creationId xmlns:a16="http://schemas.microsoft.com/office/drawing/2014/main" id="{BFD6422F-12DA-8A45-9AF9-8BFCA12E4A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56363"/>
          </a:xfrm>
        </p:spPr>
        <p:txBody>
          <a:bodyPr/>
          <a:lstStyle/>
          <a:p>
            <a:r>
              <a:rPr lang="en-US"/>
              <a:t>EEE 466 (2026) – Final Project Group 03.G2</a:t>
            </a:r>
            <a:endParaRPr lang="en-BD" dirty="0"/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82DF7523-28E5-1646-96D1-1E49DDA95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3400000" cy="375412"/>
          </a:xfrm>
        </p:spPr>
        <p:txBody>
          <a:bodyPr/>
          <a:lstStyle/>
          <a:p>
            <a:pPr algn="l"/>
            <a:r>
              <a:rPr lang="en-BD" dirty="0"/>
              <a:t>1.2 GHz Charge-Pump PLL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657847-EFF5-9936-34C1-7317156A9653}"/>
              </a:ext>
            </a:extLst>
          </p:cNvPr>
          <p:cNvSpPr txBox="1"/>
          <p:nvPr/>
        </p:nvSpPr>
        <p:spPr>
          <a:xfrm>
            <a:off x="875000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Group 03.G2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080CC3B-9516-40BC-9761-352B01D575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345" y="1335536"/>
            <a:ext cx="9335309" cy="4724809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DF9DBBDF-D226-4A72-8857-5EBD8EC14541}"/>
              </a:ext>
            </a:extLst>
          </p:cNvPr>
          <p:cNvSpPr txBox="1">
            <a:spLocks/>
          </p:cNvSpPr>
          <p:nvPr/>
        </p:nvSpPr>
        <p:spPr>
          <a:xfrm>
            <a:off x="1066800" y="606530"/>
            <a:ext cx="10058400" cy="7290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GB" sz="2800" b="1" dirty="0"/>
              <a:t>3.3.1 Schematic</a:t>
            </a:r>
          </a:p>
        </p:txBody>
      </p:sp>
    </p:spTree>
    <p:extLst>
      <p:ext uri="{BB962C8B-B14F-4D97-AF65-F5344CB8AC3E}">
        <p14:creationId xmlns:p14="http://schemas.microsoft.com/office/powerpoint/2010/main" val="3180810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FAFD4-E2E1-B948-84C7-28DD8B57F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31</a:t>
            </a:fld>
            <a:endParaRPr lang="en-BD"/>
          </a:p>
        </p:txBody>
      </p:sp>
      <p:sp>
        <p:nvSpPr>
          <p:cNvPr id="7" name="Date Placeholder 5">
            <a:extLst>
              <a:ext uri="{FF2B5EF4-FFF2-40B4-BE49-F238E27FC236}">
                <a16:creationId xmlns:a16="http://schemas.microsoft.com/office/drawing/2014/main" id="{BFD6422F-12DA-8A45-9AF9-8BFCA12E4A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56363"/>
          </a:xfrm>
        </p:spPr>
        <p:txBody>
          <a:bodyPr/>
          <a:lstStyle/>
          <a:p>
            <a:r>
              <a:rPr lang="en-US"/>
              <a:t>EEE 466 (2026) – Final Project Group 03.G2</a:t>
            </a:r>
            <a:endParaRPr lang="en-BD" dirty="0"/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82DF7523-28E5-1646-96D1-1E49DDA95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3400000" cy="375412"/>
          </a:xfrm>
        </p:spPr>
        <p:txBody>
          <a:bodyPr/>
          <a:lstStyle/>
          <a:p>
            <a:pPr algn="l"/>
            <a:r>
              <a:rPr lang="en-BD" dirty="0"/>
              <a:t>1.2 GHz Charge-Pump PLL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657847-EFF5-9936-34C1-7317156A9653}"/>
              </a:ext>
            </a:extLst>
          </p:cNvPr>
          <p:cNvSpPr txBox="1"/>
          <p:nvPr/>
        </p:nvSpPr>
        <p:spPr>
          <a:xfrm>
            <a:off x="875000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Group 03.G2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2720594-2C2F-4E2C-BF49-7E6CC6A940E5}"/>
              </a:ext>
            </a:extLst>
          </p:cNvPr>
          <p:cNvSpPr txBox="1">
            <a:spLocks/>
          </p:cNvSpPr>
          <p:nvPr/>
        </p:nvSpPr>
        <p:spPr>
          <a:xfrm>
            <a:off x="1066800" y="165238"/>
            <a:ext cx="10058400" cy="7290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pt-BR" sz="3600"/>
              <a:t>3.3 Design: Final Circuit Diagram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D16831A-7A9E-4ADB-A919-72D81707BB04}"/>
              </a:ext>
            </a:extLst>
          </p:cNvPr>
          <p:cNvSpPr txBox="1">
            <a:spLocks/>
          </p:cNvSpPr>
          <p:nvPr/>
        </p:nvSpPr>
        <p:spPr>
          <a:xfrm>
            <a:off x="1066801" y="606530"/>
            <a:ext cx="10058400" cy="7290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GB" sz="2800" b="1" dirty="0"/>
              <a:t>3.3.2 Layout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6F23FC1-8310-4466-94D7-EA9845A32A2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309" t="16078" r="15956" b="11631"/>
          <a:stretch/>
        </p:blipFill>
        <p:spPr>
          <a:xfrm>
            <a:off x="1539128" y="1200048"/>
            <a:ext cx="6795247" cy="495768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B570A06-5083-468B-8344-3FB0D997E117}"/>
              </a:ext>
            </a:extLst>
          </p:cNvPr>
          <p:cNvSpPr txBox="1"/>
          <p:nvPr/>
        </p:nvSpPr>
        <p:spPr>
          <a:xfrm>
            <a:off x="9250000" y="2497611"/>
            <a:ext cx="227177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Width – 933.09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µm</a:t>
            </a:r>
            <a:endParaRPr lang="en-US" dirty="0"/>
          </a:p>
          <a:p>
            <a:r>
              <a:rPr lang="en-US" dirty="0"/>
              <a:t>Height – 669.89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µm</a:t>
            </a:r>
          </a:p>
          <a:p>
            <a:endParaRPr lang="en-US" dirty="0"/>
          </a:p>
          <a:p>
            <a:r>
              <a:rPr lang="en-US" dirty="0"/>
              <a:t>Area = 625,068 µm²</a:t>
            </a:r>
          </a:p>
          <a:p>
            <a:r>
              <a:rPr lang="en-US" dirty="0"/>
              <a:t>          = 0.6251 mm²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50000" y="4000000"/>
            <a:ext cx="25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404040"/>
                </a:solidFill>
                <a:latin typeface="Arial"/>
              </a:rPr>
              <a:t>Layout per GPDK045 rules and the course layout guideline [6], [7]</a:t>
            </a:r>
          </a:p>
        </p:txBody>
      </p:sp>
    </p:spTree>
    <p:extLst>
      <p:ext uri="{BB962C8B-B14F-4D97-AF65-F5344CB8AC3E}">
        <p14:creationId xmlns:p14="http://schemas.microsoft.com/office/powerpoint/2010/main" val="1439339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FAFD4-E2E1-B948-84C7-28DD8B57F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32</a:t>
            </a:fld>
            <a:endParaRPr lang="en-BD"/>
          </a:p>
        </p:txBody>
      </p:sp>
      <p:sp>
        <p:nvSpPr>
          <p:cNvPr id="7" name="Date Placeholder 5">
            <a:extLst>
              <a:ext uri="{FF2B5EF4-FFF2-40B4-BE49-F238E27FC236}">
                <a16:creationId xmlns:a16="http://schemas.microsoft.com/office/drawing/2014/main" id="{BFD6422F-12DA-8A45-9AF9-8BFCA12E4A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56363"/>
          </a:xfrm>
        </p:spPr>
        <p:txBody>
          <a:bodyPr/>
          <a:lstStyle/>
          <a:p>
            <a:r>
              <a:rPr lang="en-US"/>
              <a:t>EEE 466 (2026) – Final Project Group 03.G2</a:t>
            </a:r>
            <a:endParaRPr lang="en-BD" dirty="0"/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82DF7523-28E5-1646-96D1-1E49DDA95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3400000" cy="375412"/>
          </a:xfrm>
        </p:spPr>
        <p:txBody>
          <a:bodyPr/>
          <a:lstStyle/>
          <a:p>
            <a:pPr algn="l"/>
            <a:r>
              <a:rPr lang="en-BD" dirty="0"/>
              <a:t>1.2 GHz Charge-Pump PLL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657847-EFF5-9936-34C1-7317156A9653}"/>
              </a:ext>
            </a:extLst>
          </p:cNvPr>
          <p:cNvSpPr txBox="1"/>
          <p:nvPr/>
        </p:nvSpPr>
        <p:spPr>
          <a:xfrm>
            <a:off x="875000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Group 03.G2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2720594-2C2F-4E2C-BF49-7E6CC6A940E5}"/>
              </a:ext>
            </a:extLst>
          </p:cNvPr>
          <p:cNvSpPr txBox="1">
            <a:spLocks/>
          </p:cNvSpPr>
          <p:nvPr/>
        </p:nvSpPr>
        <p:spPr>
          <a:xfrm>
            <a:off x="1066800" y="165238"/>
            <a:ext cx="10058400" cy="7290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pt-BR" sz="3600" dirty="0"/>
              <a:t>4.1 Implementation: Simulation Results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337109-C71E-4126-8EFE-D703EE8B87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24746" t="3786" r="34214" b="-3786"/>
          <a:stretch>
            <a:fillRect/>
          </a:stretch>
        </p:blipFill>
        <p:spPr>
          <a:xfrm>
            <a:off x="4372238" y="2316814"/>
            <a:ext cx="7038712" cy="292698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CF7653F-211A-4C47-BED9-DBF1324CD75A}"/>
              </a:ext>
            </a:extLst>
          </p:cNvPr>
          <p:cNvSpPr txBox="1"/>
          <p:nvPr/>
        </p:nvSpPr>
        <p:spPr>
          <a:xfrm>
            <a:off x="1066800" y="5300000"/>
            <a:ext cx="10058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Left: ÷16 feedback  |  Right: 75 MHz reference — same frequency after lock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DE6B1A-52D1-E4A0-DCAB-44BE135498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9627"/>
          <a:stretch>
            <a:fillRect/>
          </a:stretch>
        </p:blipFill>
        <p:spPr>
          <a:xfrm>
            <a:off x="590939" y="2297766"/>
            <a:ext cx="5255135" cy="280035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DD16831A-7A9E-4ADB-A919-72D81707BB04}"/>
              </a:ext>
            </a:extLst>
          </p:cNvPr>
          <p:cNvSpPr txBox="1">
            <a:spLocks/>
          </p:cNvSpPr>
          <p:nvPr/>
        </p:nvSpPr>
        <p:spPr>
          <a:xfrm>
            <a:off x="1066801" y="606530"/>
            <a:ext cx="10058400" cy="7290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GB" sz="2800" b="1" dirty="0"/>
              <a:t>4.1.1 Divider Output vs Reference Input</a:t>
            </a:r>
          </a:p>
        </p:txBody>
      </p:sp>
    </p:spTree>
    <p:extLst>
      <p:ext uri="{BB962C8B-B14F-4D97-AF65-F5344CB8AC3E}">
        <p14:creationId xmlns:p14="http://schemas.microsoft.com/office/powerpoint/2010/main" val="33111300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31BFE-F4F8-76C6-3F14-E75D9A414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093B8-579E-FED1-535E-54D160735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33</a:t>
            </a:fld>
            <a:endParaRPr lang="en-BD"/>
          </a:p>
        </p:txBody>
      </p:sp>
      <p:sp>
        <p:nvSpPr>
          <p:cNvPr id="7" name="Date Placeholder 5">
            <a:extLst>
              <a:ext uri="{FF2B5EF4-FFF2-40B4-BE49-F238E27FC236}">
                <a16:creationId xmlns:a16="http://schemas.microsoft.com/office/drawing/2014/main" id="{7FB5D377-4223-493F-9A55-E9F553DE32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56363"/>
          </a:xfrm>
        </p:spPr>
        <p:txBody>
          <a:bodyPr/>
          <a:lstStyle/>
          <a:p>
            <a:r>
              <a:rPr lang="en-US"/>
              <a:t>EEE 466 (2026) – Final Project Group 03.G2</a:t>
            </a:r>
            <a:endParaRPr lang="en-BD" dirty="0"/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ADB94986-609E-72FC-9A12-B17ACA447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3400000" cy="375412"/>
          </a:xfrm>
        </p:spPr>
        <p:txBody>
          <a:bodyPr/>
          <a:lstStyle/>
          <a:p>
            <a:pPr algn="l"/>
            <a:r>
              <a:rPr lang="en-BD" dirty="0"/>
              <a:t>1.2 GHz Charge-Pump PLL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1EAD77-75BD-3EAD-D226-99877444CCA2}"/>
              </a:ext>
            </a:extLst>
          </p:cNvPr>
          <p:cNvSpPr txBox="1"/>
          <p:nvPr/>
        </p:nvSpPr>
        <p:spPr>
          <a:xfrm>
            <a:off x="875000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Group 03.G2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64DF771-146F-B6BA-C3BF-CD5D72C1D172}"/>
              </a:ext>
            </a:extLst>
          </p:cNvPr>
          <p:cNvSpPr txBox="1">
            <a:spLocks/>
          </p:cNvSpPr>
          <p:nvPr/>
        </p:nvSpPr>
        <p:spPr>
          <a:xfrm>
            <a:off x="1066800" y="165238"/>
            <a:ext cx="10058400" cy="7290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pt-BR" sz="3600" dirty="0"/>
              <a:t>4.1 Implementation: Simulation Results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B1BD840-D21E-F8FE-31F2-ED2888F59D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755" y="1892838"/>
            <a:ext cx="9754445" cy="372650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5560A1A-464E-4859-B77E-1E8DD093F395}"/>
              </a:ext>
            </a:extLst>
          </p:cNvPr>
          <p:cNvSpPr txBox="1"/>
          <p:nvPr/>
        </p:nvSpPr>
        <p:spPr>
          <a:xfrm>
            <a:off x="1066800" y="5720000"/>
            <a:ext cx="10058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Locks in 520.9 ns (spec ≤ 8 µs) ;  </a:t>
            </a:r>
            <a:r>
              <a:rPr lang="en-US" sz="1600" dirty="0" err="1"/>
              <a:t>V_ctrl</a:t>
            </a:r>
            <a:r>
              <a:rPr lang="en-US" sz="1600" dirty="0"/>
              <a:t> at lock = 575.7 mV,  ripple = 10.13 mV p-p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D16831A-7A9E-4ADB-A919-72D81707BB04}"/>
              </a:ext>
            </a:extLst>
          </p:cNvPr>
          <p:cNvSpPr txBox="1">
            <a:spLocks/>
          </p:cNvSpPr>
          <p:nvPr/>
        </p:nvSpPr>
        <p:spPr>
          <a:xfrm>
            <a:off x="1066801" y="606530"/>
            <a:ext cx="10058400" cy="7290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GB" sz="2800" b="1" dirty="0"/>
              <a:t>4.1.2 Control Voltage V_ctrl — Lock Transient</a:t>
            </a:r>
          </a:p>
        </p:txBody>
      </p:sp>
    </p:spTree>
    <p:extLst>
      <p:ext uri="{BB962C8B-B14F-4D97-AF65-F5344CB8AC3E}">
        <p14:creationId xmlns:p14="http://schemas.microsoft.com/office/powerpoint/2010/main" val="6514656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924D2-8477-6F18-F056-6AB27F297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CB83F-6293-6066-7D1C-C6045884A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34</a:t>
            </a:fld>
            <a:endParaRPr lang="en-BD"/>
          </a:p>
        </p:txBody>
      </p:sp>
      <p:sp>
        <p:nvSpPr>
          <p:cNvPr id="7" name="Date Placeholder 5">
            <a:extLst>
              <a:ext uri="{FF2B5EF4-FFF2-40B4-BE49-F238E27FC236}">
                <a16:creationId xmlns:a16="http://schemas.microsoft.com/office/drawing/2014/main" id="{D12013D2-04F0-0757-5BBC-65D118AA2C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56363"/>
          </a:xfrm>
        </p:spPr>
        <p:txBody>
          <a:bodyPr/>
          <a:lstStyle/>
          <a:p>
            <a:r>
              <a:rPr lang="en-US"/>
              <a:t>EEE 466 (2026) – Final Project Group 03.G2</a:t>
            </a:r>
            <a:endParaRPr lang="en-BD" dirty="0"/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E551D37E-1E32-34E4-DD14-C51ACF93F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3400000" cy="375412"/>
          </a:xfrm>
        </p:spPr>
        <p:txBody>
          <a:bodyPr/>
          <a:lstStyle/>
          <a:p>
            <a:pPr algn="l"/>
            <a:r>
              <a:rPr lang="en-BD" dirty="0"/>
              <a:t>1.2 GHz Charge-Pump PLL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9EEAF9-F1C6-BBAC-1FFF-36CEF6014C61}"/>
              </a:ext>
            </a:extLst>
          </p:cNvPr>
          <p:cNvSpPr txBox="1"/>
          <p:nvPr/>
        </p:nvSpPr>
        <p:spPr>
          <a:xfrm>
            <a:off x="875000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Group 03.G2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884BDCA-7223-82B4-C0AD-420B0C5CFA7A}"/>
              </a:ext>
            </a:extLst>
          </p:cNvPr>
          <p:cNvSpPr txBox="1">
            <a:spLocks/>
          </p:cNvSpPr>
          <p:nvPr/>
        </p:nvSpPr>
        <p:spPr>
          <a:xfrm>
            <a:off x="1066800" y="165238"/>
            <a:ext cx="10058400" cy="7290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pt-BR" sz="3600" dirty="0"/>
              <a:t>4.1 Implementation: Simulation Results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5A94D5-41CD-226C-1DA2-9567AC5FE1AE}"/>
              </a:ext>
            </a:extLst>
          </p:cNvPr>
          <p:cNvSpPr txBox="1"/>
          <p:nvPr/>
        </p:nvSpPr>
        <p:spPr>
          <a:xfrm>
            <a:off x="4323183" y="5301799"/>
            <a:ext cx="29338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f_out = 1.200 GHz (= 16 × 75 MHz)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80D08A-FF22-E87B-06C9-27B1FDBBAA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755" y="1400000"/>
            <a:ext cx="9754445" cy="3665538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DD16831A-7A9E-4ADB-A919-72D81707BB04}"/>
              </a:ext>
            </a:extLst>
          </p:cNvPr>
          <p:cNvSpPr txBox="1">
            <a:spLocks/>
          </p:cNvSpPr>
          <p:nvPr/>
        </p:nvSpPr>
        <p:spPr>
          <a:xfrm>
            <a:off x="1066801" y="606530"/>
            <a:ext cx="10058400" cy="7290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GB" sz="2800" b="1" dirty="0"/>
              <a:t>4.1.3 VCO Output After Lock</a:t>
            </a:r>
          </a:p>
        </p:txBody>
      </p:sp>
    </p:spTree>
    <p:extLst>
      <p:ext uri="{BB962C8B-B14F-4D97-AF65-F5344CB8AC3E}">
        <p14:creationId xmlns:p14="http://schemas.microsoft.com/office/powerpoint/2010/main" val="5659440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1E917-6496-1FD5-7156-0487A45E5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C87C9C-18E1-946F-B936-AF50EA128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35</a:t>
            </a:fld>
            <a:endParaRPr lang="en-BD"/>
          </a:p>
        </p:txBody>
      </p:sp>
      <p:sp>
        <p:nvSpPr>
          <p:cNvPr id="7" name="Date Placeholder 5">
            <a:extLst>
              <a:ext uri="{FF2B5EF4-FFF2-40B4-BE49-F238E27FC236}">
                <a16:creationId xmlns:a16="http://schemas.microsoft.com/office/drawing/2014/main" id="{951E8F09-C799-C053-CB0C-442166600E7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56363"/>
          </a:xfrm>
        </p:spPr>
        <p:txBody>
          <a:bodyPr/>
          <a:lstStyle/>
          <a:p>
            <a:r>
              <a:rPr lang="en-US"/>
              <a:t>EEE 466 (2026) – Final Project Group 03.G2</a:t>
            </a:r>
            <a:endParaRPr lang="en-BD" dirty="0"/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C2DB1AE1-36E9-3DD2-BE01-01CD463AB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3400000" cy="375412"/>
          </a:xfrm>
        </p:spPr>
        <p:txBody>
          <a:bodyPr/>
          <a:lstStyle/>
          <a:p>
            <a:pPr algn="l"/>
            <a:r>
              <a:rPr lang="en-BD" dirty="0"/>
              <a:t>1.2 GHz Charge-Pump PLL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C76BDC-8143-177F-DF7D-66E1DB24AC82}"/>
              </a:ext>
            </a:extLst>
          </p:cNvPr>
          <p:cNvSpPr txBox="1"/>
          <p:nvPr/>
        </p:nvSpPr>
        <p:spPr>
          <a:xfrm>
            <a:off x="875000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Group 03.G2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9A985FD-2210-12E5-B9DA-2BC715E1692E}"/>
              </a:ext>
            </a:extLst>
          </p:cNvPr>
          <p:cNvSpPr txBox="1">
            <a:spLocks/>
          </p:cNvSpPr>
          <p:nvPr/>
        </p:nvSpPr>
        <p:spPr>
          <a:xfrm>
            <a:off x="1066800" y="165238"/>
            <a:ext cx="10058400" cy="7290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pt-BR" sz="3600" dirty="0"/>
              <a:t>4.1 Implementation: Simulation Results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9EBF6D-74C8-A45F-A601-0680B0389813}"/>
              </a:ext>
            </a:extLst>
          </p:cNvPr>
          <p:cNvSpPr txBox="1"/>
          <p:nvPr/>
        </p:nvSpPr>
        <p:spPr>
          <a:xfrm>
            <a:off x="4752391" y="5033668"/>
            <a:ext cx="29546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000" dirty="0"/>
              <a:t>UP &amp; DN pulses at lock</a:t>
            </a:r>
            <a:endParaRPr lang="en-US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21807C-46F6-8345-8276-D86BCFF46A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8905"/>
          <a:stretch>
            <a:fillRect/>
          </a:stretch>
        </p:blipFill>
        <p:spPr>
          <a:xfrm>
            <a:off x="729229" y="1624277"/>
            <a:ext cx="5366771" cy="291333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78D366B-5B80-8C59-60D8-B86DF8BD30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7451"/>
          <a:stretch>
            <a:fillRect/>
          </a:stretch>
        </p:blipFill>
        <p:spPr>
          <a:xfrm>
            <a:off x="6399132" y="1691032"/>
            <a:ext cx="5366770" cy="2779826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DD16831A-7A9E-4ADB-A919-72D81707BB04}"/>
              </a:ext>
            </a:extLst>
          </p:cNvPr>
          <p:cNvSpPr txBox="1">
            <a:spLocks/>
          </p:cNvSpPr>
          <p:nvPr/>
        </p:nvSpPr>
        <p:spPr>
          <a:xfrm>
            <a:off x="1066801" y="606530"/>
            <a:ext cx="10058400" cy="7290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GB" sz="2800" b="1" dirty="0"/>
              <a:t>4.1.4 UP &amp; DN Pulses at Lock</a:t>
            </a:r>
          </a:p>
        </p:txBody>
      </p:sp>
    </p:spTree>
    <p:extLst>
      <p:ext uri="{BB962C8B-B14F-4D97-AF65-F5344CB8AC3E}">
        <p14:creationId xmlns:p14="http://schemas.microsoft.com/office/powerpoint/2010/main" val="16937732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CC2AD-FA70-7716-FEFA-B6CE5D8DD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9935A6-DB10-893B-C0EF-A1E77B4E6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36</a:t>
            </a:fld>
            <a:endParaRPr lang="en-BD"/>
          </a:p>
        </p:txBody>
      </p:sp>
      <p:sp>
        <p:nvSpPr>
          <p:cNvPr id="7" name="Date Placeholder 5">
            <a:extLst>
              <a:ext uri="{FF2B5EF4-FFF2-40B4-BE49-F238E27FC236}">
                <a16:creationId xmlns:a16="http://schemas.microsoft.com/office/drawing/2014/main" id="{E3D71B9F-77B8-8ADB-AC8B-9C2C55669C9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56363"/>
          </a:xfrm>
        </p:spPr>
        <p:txBody>
          <a:bodyPr/>
          <a:lstStyle/>
          <a:p>
            <a:r>
              <a:rPr lang="en-US"/>
              <a:t>EEE 466 (2026) – Final Project Group 03.G2</a:t>
            </a:r>
            <a:endParaRPr lang="en-BD" dirty="0"/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C9D891EA-C652-6531-CFE6-8B28CADED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3400000" cy="375412"/>
          </a:xfrm>
        </p:spPr>
        <p:txBody>
          <a:bodyPr/>
          <a:lstStyle/>
          <a:p>
            <a:pPr algn="l"/>
            <a:r>
              <a:rPr lang="en-BD" dirty="0"/>
              <a:t>1.2 GHz Charge-Pump PLL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0A97B1-458A-5A24-48C4-E31ED4CAD014}"/>
              </a:ext>
            </a:extLst>
          </p:cNvPr>
          <p:cNvSpPr txBox="1"/>
          <p:nvPr/>
        </p:nvSpPr>
        <p:spPr>
          <a:xfrm>
            <a:off x="875000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Group 03.G2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00737DF-A179-7932-58C3-CD30E26AB0C3}"/>
              </a:ext>
            </a:extLst>
          </p:cNvPr>
          <p:cNvSpPr txBox="1">
            <a:spLocks/>
          </p:cNvSpPr>
          <p:nvPr/>
        </p:nvSpPr>
        <p:spPr>
          <a:xfrm>
            <a:off x="1066800" y="165238"/>
            <a:ext cx="10058400" cy="7290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pt-BR" sz="3600" dirty="0"/>
              <a:t>4.1 Implementation: Simulation Results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DDD805-4C49-DC90-73C0-54D83E1B1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6036" y="1400000"/>
            <a:ext cx="9777369" cy="373975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6696422-3440-4527-8EDE-81ECB7F58661}"/>
              </a:ext>
            </a:extLst>
          </p:cNvPr>
          <p:cNvSpPr txBox="1"/>
          <p:nvPr/>
        </p:nvSpPr>
        <p:spPr>
          <a:xfrm>
            <a:off x="1066800" y="5350000"/>
            <a:ext cx="10058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Reference spur at f_out ± 75 MHz ≤ −64.5 dBc (spec ≤ −40 </a:t>
            </a:r>
            <a:r>
              <a:rPr lang="en-US" sz="1600" dirty="0" err="1"/>
              <a:t>dBc</a:t>
            </a:r>
            <a:r>
              <a:rPr lang="en-US" sz="1600" dirty="0"/>
              <a:t> )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D16831A-7A9E-4ADB-A919-72D81707BB04}"/>
              </a:ext>
            </a:extLst>
          </p:cNvPr>
          <p:cNvSpPr txBox="1">
            <a:spLocks/>
          </p:cNvSpPr>
          <p:nvPr/>
        </p:nvSpPr>
        <p:spPr>
          <a:xfrm>
            <a:off x="1066801" y="606530"/>
            <a:ext cx="10058400" cy="7290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GB" sz="2800" b="1" dirty="0"/>
              <a:t>4.1.5 Reference Spur</a:t>
            </a:r>
          </a:p>
        </p:txBody>
      </p:sp>
    </p:spTree>
    <p:extLst>
      <p:ext uri="{BB962C8B-B14F-4D97-AF65-F5344CB8AC3E}">
        <p14:creationId xmlns:p14="http://schemas.microsoft.com/office/powerpoint/2010/main" val="36130063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E0F19-37B9-6B4F-A02C-082566766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0CBD0F-D69E-7CD8-9CD5-1B67C16EA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37</a:t>
            </a:fld>
            <a:endParaRPr lang="en-BD"/>
          </a:p>
        </p:txBody>
      </p:sp>
      <p:sp>
        <p:nvSpPr>
          <p:cNvPr id="7" name="Date Placeholder 5">
            <a:extLst>
              <a:ext uri="{FF2B5EF4-FFF2-40B4-BE49-F238E27FC236}">
                <a16:creationId xmlns:a16="http://schemas.microsoft.com/office/drawing/2014/main" id="{A0EA9FA8-C03C-FDBC-FE04-A10CB12D12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56363"/>
          </a:xfrm>
        </p:spPr>
        <p:txBody>
          <a:bodyPr/>
          <a:lstStyle/>
          <a:p>
            <a:r>
              <a:rPr lang="en-US"/>
              <a:t>EEE 466 (2026) – Final Project Group 03.G2</a:t>
            </a:r>
            <a:endParaRPr lang="en-BD" dirty="0"/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736511D4-B9CB-E700-D9ED-10D32FAFE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3400000" cy="375412"/>
          </a:xfrm>
        </p:spPr>
        <p:txBody>
          <a:bodyPr/>
          <a:lstStyle/>
          <a:p>
            <a:pPr algn="l"/>
            <a:r>
              <a:rPr lang="en-BD" dirty="0"/>
              <a:t>1.2 GHz Charge-Pump PLL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D83913-67D9-4C13-F8C9-B2D9B6EAA03D}"/>
              </a:ext>
            </a:extLst>
          </p:cNvPr>
          <p:cNvSpPr txBox="1"/>
          <p:nvPr/>
        </p:nvSpPr>
        <p:spPr>
          <a:xfrm>
            <a:off x="875000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Group 03.G2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4D29D8E-698F-3517-A0C6-02811BA647F9}"/>
              </a:ext>
            </a:extLst>
          </p:cNvPr>
          <p:cNvSpPr txBox="1">
            <a:spLocks/>
          </p:cNvSpPr>
          <p:nvPr/>
        </p:nvSpPr>
        <p:spPr>
          <a:xfrm>
            <a:off x="1066800" y="165238"/>
            <a:ext cx="10058400" cy="7290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pt-BR" sz="3600" dirty="0"/>
              <a:t>4.1 Implementation: Simulation Results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AFEB37-0E02-830C-6602-07D0DE42CDD0}"/>
              </a:ext>
            </a:extLst>
          </p:cNvPr>
          <p:cNvSpPr txBox="1"/>
          <p:nvPr/>
        </p:nvSpPr>
        <p:spPr>
          <a:xfrm>
            <a:off x="3510997" y="5546280"/>
            <a:ext cx="5170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RMS period jitter = 1.214 ps (spec ≤ 8 </a:t>
            </a:r>
            <a:r>
              <a:rPr lang="en-US" sz="2000" dirty="0" err="1"/>
              <a:t>ps</a:t>
            </a:r>
            <a:r>
              <a:rPr lang="en-US" sz="2000" dirty="0"/>
              <a:t> 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30479B-FBD1-40D5-ECA5-C1E6EBCF3C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5817" y="1400000"/>
            <a:ext cx="6740366" cy="4029241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DD16831A-7A9E-4ADB-A919-72D81707BB04}"/>
              </a:ext>
            </a:extLst>
          </p:cNvPr>
          <p:cNvSpPr txBox="1">
            <a:spLocks/>
          </p:cNvSpPr>
          <p:nvPr/>
        </p:nvSpPr>
        <p:spPr>
          <a:xfrm>
            <a:off x="1066801" y="606530"/>
            <a:ext cx="10058400" cy="7290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GB" sz="2800" b="1" dirty="0"/>
              <a:t>4.1.6 RMS Period Jitter</a:t>
            </a:r>
          </a:p>
        </p:txBody>
      </p:sp>
    </p:spTree>
    <p:extLst>
      <p:ext uri="{BB962C8B-B14F-4D97-AF65-F5344CB8AC3E}">
        <p14:creationId xmlns:p14="http://schemas.microsoft.com/office/powerpoint/2010/main" val="33322058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2A556-F91E-AD65-DE84-7DFCDB87B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DEC130-4E06-0B61-599C-EAEC387AB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38</a:t>
            </a:fld>
            <a:endParaRPr lang="en-BD"/>
          </a:p>
        </p:txBody>
      </p:sp>
      <p:sp>
        <p:nvSpPr>
          <p:cNvPr id="7" name="Date Placeholder 5">
            <a:extLst>
              <a:ext uri="{FF2B5EF4-FFF2-40B4-BE49-F238E27FC236}">
                <a16:creationId xmlns:a16="http://schemas.microsoft.com/office/drawing/2014/main" id="{7B54F14D-81AE-30E0-A93E-33B923AECA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56363"/>
          </a:xfrm>
        </p:spPr>
        <p:txBody>
          <a:bodyPr/>
          <a:lstStyle/>
          <a:p>
            <a:r>
              <a:rPr lang="en-US"/>
              <a:t>EEE 466 (2026) – Final Project Group 03.G2</a:t>
            </a:r>
            <a:endParaRPr lang="en-BD" dirty="0"/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0BCBDB5B-7B26-75F7-C8F7-40F3A6990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3400000" cy="375412"/>
          </a:xfrm>
        </p:spPr>
        <p:txBody>
          <a:bodyPr/>
          <a:lstStyle/>
          <a:p>
            <a:pPr algn="l"/>
            <a:r>
              <a:rPr lang="en-BD" dirty="0"/>
              <a:t>1.2 GHz Charge-Pump PLL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D1C623-4DCF-83E2-C471-158C7F3FB208}"/>
              </a:ext>
            </a:extLst>
          </p:cNvPr>
          <p:cNvSpPr txBox="1"/>
          <p:nvPr/>
        </p:nvSpPr>
        <p:spPr>
          <a:xfrm>
            <a:off x="875000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Group 03.G2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692FD0D-70F9-4D52-08D6-E20F4EBFC2C1}"/>
              </a:ext>
            </a:extLst>
          </p:cNvPr>
          <p:cNvSpPr txBox="1">
            <a:spLocks/>
          </p:cNvSpPr>
          <p:nvPr/>
        </p:nvSpPr>
        <p:spPr>
          <a:xfrm>
            <a:off x="1066800" y="165238"/>
            <a:ext cx="10058400" cy="7290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pt-BR" sz="3600" dirty="0"/>
              <a:t>4.1 Implementation: Simulation Results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3CD3CA2-8D59-2058-7499-D1EA9640CD7A}"/>
                  </a:ext>
                </a:extLst>
              </p:cNvPr>
              <p:cNvSpPr txBox="1"/>
              <p:nvPr/>
            </p:nvSpPr>
            <p:spPr>
              <a:xfrm>
                <a:off x="3713369" y="5430284"/>
                <a:ext cx="4354077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Loop Bandwidth 3.752142 MHz</a:t>
                </a:r>
                <a:br>
                  <a:rPr lang="en-US" sz="2000" dirty="0"/>
                </a:br>
                <a:r>
                  <a:rPr lang="en-US" sz="2000" dirty="0"/>
                  <a:t>Phase Margin 180 – 119.993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</m:oMath>
                </a14:m>
                <a:r>
                  <a:rPr lang="en-US" sz="2000" dirty="0"/>
                  <a:t> 60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3CD3CA2-8D59-2058-7499-D1EA9640CD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3369" y="5430284"/>
                <a:ext cx="4354077" cy="707886"/>
              </a:xfrm>
              <a:prstGeom prst="rect">
                <a:avLst/>
              </a:prstGeom>
              <a:blipFill>
                <a:blip r:embed="rId2"/>
                <a:stretch>
                  <a:fillRect l="-1401" t="-5172" b="-1465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55CD1C8D-128D-972B-F370-B9C784113F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5414" y="1400000"/>
            <a:ext cx="6409989" cy="4069628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DD16831A-7A9E-4ADB-A919-72D81707BB04}"/>
              </a:ext>
            </a:extLst>
          </p:cNvPr>
          <p:cNvSpPr txBox="1">
            <a:spLocks/>
          </p:cNvSpPr>
          <p:nvPr/>
        </p:nvSpPr>
        <p:spPr>
          <a:xfrm>
            <a:off x="1066801" y="606530"/>
            <a:ext cx="10058400" cy="7290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GB" sz="2800" b="1" dirty="0"/>
              <a:t>4.1.7 Loop Bandwidth &amp; Phase Margin</a:t>
            </a:r>
          </a:p>
        </p:txBody>
      </p:sp>
    </p:spTree>
    <p:extLst>
      <p:ext uri="{BB962C8B-B14F-4D97-AF65-F5344CB8AC3E}">
        <p14:creationId xmlns:p14="http://schemas.microsoft.com/office/powerpoint/2010/main" val="20915408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831D3-EF03-1F1E-5764-7A3D51F4E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EED812-6089-FCAC-8738-2C140835D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39</a:t>
            </a:fld>
            <a:endParaRPr lang="en-BD"/>
          </a:p>
        </p:txBody>
      </p:sp>
      <p:sp>
        <p:nvSpPr>
          <p:cNvPr id="7" name="Date Placeholder 5">
            <a:extLst>
              <a:ext uri="{FF2B5EF4-FFF2-40B4-BE49-F238E27FC236}">
                <a16:creationId xmlns:a16="http://schemas.microsoft.com/office/drawing/2014/main" id="{B0617E7F-5AF6-4D55-E744-5B9E23050C7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56363"/>
          </a:xfrm>
        </p:spPr>
        <p:txBody>
          <a:bodyPr/>
          <a:lstStyle/>
          <a:p>
            <a:r>
              <a:rPr lang="en-US"/>
              <a:t>EEE 466 (2026) – Final Project Group 03.G2</a:t>
            </a:r>
            <a:endParaRPr lang="en-BD" dirty="0"/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3CF3C2C2-18B1-9591-BE42-BF581B490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3400000" cy="375412"/>
          </a:xfrm>
        </p:spPr>
        <p:txBody>
          <a:bodyPr/>
          <a:lstStyle/>
          <a:p>
            <a:pPr algn="l"/>
            <a:r>
              <a:rPr lang="en-BD" dirty="0"/>
              <a:t>1.2 GHz Charge-Pump PLL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570EF3-490B-F77D-A3FF-5F2920D81376}"/>
              </a:ext>
            </a:extLst>
          </p:cNvPr>
          <p:cNvSpPr txBox="1"/>
          <p:nvPr/>
        </p:nvSpPr>
        <p:spPr>
          <a:xfrm>
            <a:off x="875000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Group 03.G2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65E0E3A-5FE3-DB2B-0AEE-05994CB7335D}"/>
              </a:ext>
            </a:extLst>
          </p:cNvPr>
          <p:cNvSpPr txBox="1">
            <a:spLocks/>
          </p:cNvSpPr>
          <p:nvPr/>
        </p:nvSpPr>
        <p:spPr>
          <a:xfrm>
            <a:off x="1066800" y="165238"/>
            <a:ext cx="10058400" cy="7290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pt-BR" sz="3600" dirty="0"/>
              <a:t>4.1 Implementation: Simulation Results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ED3673-33D6-917D-2F8E-A0A4A1E2A6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41" b="20578"/>
          <a:stretch>
            <a:fillRect/>
          </a:stretch>
        </p:blipFill>
        <p:spPr>
          <a:xfrm>
            <a:off x="2062065" y="1400000"/>
            <a:ext cx="7933483" cy="248149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9E3DCE8-B56B-8723-E2A0-6CE8114D30CE}"/>
              </a:ext>
            </a:extLst>
          </p:cNvPr>
          <p:cNvSpPr txBox="1"/>
          <p:nvPr/>
        </p:nvSpPr>
        <p:spPr>
          <a:xfrm>
            <a:off x="870857" y="4021495"/>
            <a:ext cx="719079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dirty="0"/>
              <a:t>Power Consumption Calculation (after lock)</a:t>
            </a:r>
          </a:p>
          <a:p>
            <a:endParaRPr lang="en-SG" dirty="0"/>
          </a:p>
          <a:p>
            <a:r>
              <a:rPr lang="en-SG" dirty="0"/>
              <a:t>P = VDD × |</a:t>
            </a:r>
            <a:r>
              <a:rPr lang="en-SG" dirty="0" err="1"/>
              <a:t>I_avg</a:t>
            </a:r>
            <a:r>
              <a:rPr lang="en-SG" dirty="0"/>
              <a:t>|</a:t>
            </a:r>
          </a:p>
          <a:p>
            <a:endParaRPr lang="en-SG" dirty="0"/>
          </a:p>
          <a:p>
            <a:r>
              <a:rPr lang="en-SG" dirty="0"/>
              <a:t>ADE expression:</a:t>
            </a:r>
          </a:p>
          <a:p>
            <a:r>
              <a:rPr lang="en-SG" dirty="0"/>
              <a:t>P = abs(average(clip(IT("/V0/PLUS"), 1.6µs, 2µs))) × 1.1</a:t>
            </a:r>
          </a:p>
          <a:p>
            <a:r>
              <a:rPr lang="en-SG" dirty="0"/>
              <a:t>P = 2.315 </a:t>
            </a:r>
            <a:r>
              <a:rPr lang="en-SG" dirty="0" err="1"/>
              <a:t>mW</a:t>
            </a:r>
            <a:r>
              <a:rPr lang="en-SG" dirty="0"/>
              <a:t>  (Spec: ≤ 5 </a:t>
            </a:r>
            <a:r>
              <a:rPr lang="en-SG" dirty="0" err="1"/>
              <a:t>mW</a:t>
            </a:r>
            <a:r>
              <a:rPr lang="en-SG" dirty="0"/>
              <a:t>) 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D16831A-7A9E-4ADB-A919-72D81707BB04}"/>
              </a:ext>
            </a:extLst>
          </p:cNvPr>
          <p:cNvSpPr txBox="1">
            <a:spLocks/>
          </p:cNvSpPr>
          <p:nvPr/>
        </p:nvSpPr>
        <p:spPr>
          <a:xfrm>
            <a:off x="1066801" y="606530"/>
            <a:ext cx="10058400" cy="7290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GB" sz="2800" b="1" dirty="0"/>
              <a:t>4.1.9 Power Consumption (after lock)</a:t>
            </a:r>
          </a:p>
        </p:txBody>
      </p:sp>
    </p:spTree>
    <p:extLst>
      <p:ext uri="{BB962C8B-B14F-4D97-AF65-F5344CB8AC3E}">
        <p14:creationId xmlns:p14="http://schemas.microsoft.com/office/powerpoint/2010/main" val="14939314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2C672-E565-34D9-BD41-B504F1B7D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829052"/>
            <a:ext cx="10058400" cy="729006"/>
          </a:xfrm>
        </p:spPr>
        <p:txBody>
          <a:bodyPr>
            <a:normAutofit/>
          </a:bodyPr>
          <a:lstStyle/>
          <a:p>
            <a:r>
              <a:rPr lang="en-US" sz="4400" dirty="0"/>
              <a:t>4.2 Layout Area Summary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9777CD-4032-360E-7A48-7FE9636D0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40</a:t>
            </a:fld>
            <a:endParaRPr lang="en-B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53DE9F-9C2B-2286-EFD9-A8CBE2B41F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56363"/>
          </a:xfrm>
        </p:spPr>
        <p:txBody>
          <a:bodyPr/>
          <a:lstStyle/>
          <a:p>
            <a:r>
              <a:rPr lang="en-US"/>
              <a:t>EEE 466 (2026) – Final Project Group 03.G2</a:t>
            </a:r>
            <a:endParaRPr lang="en-BD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BF744D-9F67-FA7D-0591-CA5EA3B57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3400000" cy="375412"/>
          </a:xfrm>
        </p:spPr>
        <p:txBody>
          <a:bodyPr/>
          <a:lstStyle/>
          <a:p>
            <a:pPr algn="l"/>
            <a:r>
              <a:rPr lang="en-BD"/>
              <a:t>1.2 GHz Charge-Pump PLL</a:t>
            </a:r>
            <a:endParaRPr lang="en-BD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B6DBB1-0ECF-7E88-6A58-831B47A29F95}"/>
              </a:ext>
            </a:extLst>
          </p:cNvPr>
          <p:cNvSpPr txBox="1"/>
          <p:nvPr/>
        </p:nvSpPr>
        <p:spPr>
          <a:xfrm>
            <a:off x="875000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Group 03.G2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09A550E-99DA-48CB-9C67-7EA58D520A7B}"/>
              </a:ext>
            </a:extLst>
          </p:cNvPr>
          <p:cNvSpPr txBox="1">
            <a:spLocks/>
          </p:cNvSpPr>
          <p:nvPr/>
        </p:nvSpPr>
        <p:spPr>
          <a:xfrm>
            <a:off x="1066800" y="140203"/>
            <a:ext cx="10058400" cy="7290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4. Implementation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00000" y="1650000"/>
          <a:ext cx="6700000" cy="4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00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Block</a:t>
                      </a:r>
                    </a:p>
                  </a:txBody>
                  <a:tcPr marL="70000" marR="70000" marT="30000" marB="3000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W × H (µm)</a:t>
                      </a:r>
                    </a:p>
                  </a:txBody>
                  <a:tcPr marL="70000" marR="70000" marT="30000" marB="3000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Area (W × H)</a:t>
                      </a:r>
                    </a:p>
                  </a:txBody>
                  <a:tcPr marL="70000" marR="70000" marT="30000" marB="3000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Share</a:t>
                      </a:r>
                    </a:p>
                  </a:txBody>
                  <a:tcPr marL="70000" marR="70000" marT="30000" marB="30000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262626"/>
                          </a:solidFill>
                          <a:latin typeface="Arial"/>
                        </a:rPr>
                        <a:t>PFD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109 × 99.395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10,834 µm² = 0.01083 mm²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4.7 %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262626"/>
                          </a:solidFill>
                          <a:latin typeface="Arial"/>
                        </a:rPr>
                        <a:t>Charge pump</a:t>
                      </a:r>
                    </a:p>
                  </a:txBody>
                  <a:tcPr marL="70000" marR="70000" marT="30000" marB="30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144.21 × 71.32</a:t>
                      </a:r>
                    </a:p>
                  </a:txBody>
                  <a:tcPr marL="70000" marR="70000" marT="30000" marB="30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10,285 µm² = 0.01029 mm²</a:t>
                      </a:r>
                    </a:p>
                  </a:txBody>
                  <a:tcPr marL="70000" marR="70000" marT="30000" marB="30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4.5 %</a:t>
                      </a:r>
                    </a:p>
                  </a:txBody>
                  <a:tcPr marL="70000" marR="70000" marT="30000" marB="30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262626"/>
                          </a:solidFill>
                          <a:latin typeface="Arial"/>
                        </a:rPr>
                        <a:t>VCO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139.865 × 33.825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4,731 µm² = 0.004731 mm²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2.1 %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262626"/>
                          </a:solidFill>
                          <a:latin typeface="Arial"/>
                        </a:rPr>
                        <a:t>Loop filter</a:t>
                      </a:r>
                    </a:p>
                  </a:txBody>
                  <a:tcPr marL="70000" marR="70000" marT="30000" marB="30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513.135 × 394.495</a:t>
                      </a:r>
                    </a:p>
                  </a:txBody>
                  <a:tcPr marL="70000" marR="70000" marT="30000" marB="30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202,429 µm² = 0.2024 mm²</a:t>
                      </a:r>
                    </a:p>
                  </a:txBody>
                  <a:tcPr marL="70000" marR="70000" marT="30000" marB="30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88.6 %</a:t>
                      </a:r>
                    </a:p>
                  </a:txBody>
                  <a:tcPr marL="70000" marR="70000" marT="30000" marB="30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262626"/>
                          </a:solidFill>
                          <a:latin typeface="Arial"/>
                        </a:rPr>
                        <a:t>Divider (÷16)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37.405 × 5.7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213.2 µm² = 0.0002132 mm²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0.1 %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262626"/>
                          </a:solidFill>
                          <a:latin typeface="Arial"/>
                        </a:rPr>
                        <a:t>Sum of blocks</a:t>
                      </a:r>
                    </a:p>
                  </a:txBody>
                  <a:tcPr marL="70000" marR="70000" marT="30000" marB="30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0000" marR="70000" marT="30000" marB="30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228,492 µm² = 0.2285 mm²</a:t>
                      </a:r>
                    </a:p>
                  </a:txBody>
                  <a:tcPr marL="70000" marR="70000" marT="30000" marB="30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100 %</a:t>
                      </a:r>
                    </a:p>
                  </a:txBody>
                  <a:tcPr marL="70000" marR="70000" marT="30000" marB="30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C00000"/>
                          </a:solidFill>
                          <a:latin typeface="Arial"/>
                        </a:rPr>
                        <a:t>Full PLL layout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C00000"/>
                          </a:solidFill>
                          <a:latin typeface="Arial"/>
                        </a:rPr>
                        <a:t>933.09 × 669.89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C00000"/>
                          </a:solidFill>
                          <a:latin typeface="Arial"/>
                        </a:rPr>
                        <a:t>625,068 µm² = 0.6251 mm²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C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7650000" y="1600000"/>
          <a:ext cx="4000000" cy="37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00000" y="5920000"/>
            <a:ext cx="11000000" cy="450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62626"/>
                </a:solidFill>
                <a:latin typeface="Arial"/>
              </a:rPr>
              <a:t>Loop filter ≈ 89 % of block area;  </a:t>
            </a:r>
            <a:r>
              <a:rPr sz="1500" b="1" i="0">
                <a:solidFill>
                  <a:srgbClr val="262626"/>
                </a:solidFill>
                <a:latin typeface="Arial"/>
              </a:rPr>
              <a:t>total PLL = 933.09 µm × 669.89 µm = 625,068 µm² = 0.6251 mm²</a:t>
            </a:r>
          </a:p>
        </p:txBody>
      </p:sp>
    </p:spTree>
    <p:extLst>
      <p:ext uri="{BB962C8B-B14F-4D97-AF65-F5344CB8AC3E}">
        <p14:creationId xmlns:p14="http://schemas.microsoft.com/office/powerpoint/2010/main" val="421623850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2C672-E565-34D9-BD41-B504F1B7D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709700"/>
            <a:ext cx="10866120" cy="729006"/>
          </a:xfrm>
        </p:spPr>
        <p:txBody>
          <a:bodyPr>
            <a:normAutofit/>
          </a:bodyPr>
          <a:lstStyle/>
          <a:p>
            <a:r>
              <a:rPr lang="en-US" sz="2800" dirty="0"/>
              <a:t>5.1 Major Design Challenges &amp; Solutions</a:t>
            </a:r>
            <a:endParaRPr lang="en-GB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9777CD-4032-360E-7A48-7FE9636D0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41</a:t>
            </a:fld>
            <a:endParaRPr lang="en-B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53DE9F-9C2B-2286-EFD9-A8CBE2B41F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56363"/>
          </a:xfrm>
        </p:spPr>
        <p:txBody>
          <a:bodyPr/>
          <a:lstStyle/>
          <a:p>
            <a:r>
              <a:rPr lang="en-US"/>
              <a:t>EEE 466 (2026) – Final Project Group 03.G2</a:t>
            </a:r>
            <a:endParaRPr lang="en-BD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BF744D-9F67-FA7D-0591-CA5EA3B57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3400000" cy="375412"/>
          </a:xfrm>
        </p:spPr>
        <p:txBody>
          <a:bodyPr/>
          <a:lstStyle/>
          <a:p>
            <a:pPr algn="l"/>
            <a:r>
              <a:rPr lang="en-BD"/>
              <a:t>1.2 GHz Charge-Pump PLL</a:t>
            </a:r>
            <a:endParaRPr lang="en-BD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B6DBB1-0ECF-7E88-6A58-831B47A29F95}"/>
              </a:ext>
            </a:extLst>
          </p:cNvPr>
          <p:cNvSpPr txBox="1"/>
          <p:nvPr/>
        </p:nvSpPr>
        <p:spPr>
          <a:xfrm>
            <a:off x="875000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Group 03.G2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09A550E-99DA-48CB-9C67-7EA58D520A7B}"/>
              </a:ext>
            </a:extLst>
          </p:cNvPr>
          <p:cNvSpPr txBox="1">
            <a:spLocks/>
          </p:cNvSpPr>
          <p:nvPr/>
        </p:nvSpPr>
        <p:spPr>
          <a:xfrm>
            <a:off x="1066800" y="140203"/>
            <a:ext cx="10058400" cy="7290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sz="3600" dirty="0"/>
              <a:t>5. Design Analysis and Evaluation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859927"/>
              </p:ext>
            </p:extLst>
          </p:nvPr>
        </p:nvGraphicFramePr>
        <p:xfrm>
          <a:off x="700000" y="1600000"/>
          <a:ext cx="10799999" cy="45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92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60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146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0000">
                <a:tc>
                  <a:txBody>
                    <a:bodyPr/>
                    <a:lstStyle/>
                    <a:p>
                      <a:r>
                        <a:rPr sz="1500" b="1" i="0" dirty="0">
                          <a:solidFill>
                            <a:srgbClr val="FFFFFF"/>
                          </a:solidFill>
                          <a:latin typeface="Arial"/>
                        </a:rPr>
                        <a:t>Challenge</a:t>
                      </a:r>
                    </a:p>
                  </a:txBody>
                  <a:tcPr marL="70000" marR="70000" marT="30000" marB="3000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Root cause</a:t>
                      </a:r>
                    </a:p>
                  </a:txBody>
                  <a:tcPr marL="70000" marR="70000" marT="30000" marB="3000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How it was addressed</a:t>
                      </a:r>
                    </a:p>
                  </a:txBody>
                  <a:tcPr marL="70000" marR="70000" marT="30000" marB="30000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62626"/>
                          </a:solidFill>
                          <a:latin typeface="Arial"/>
                        </a:rPr>
                        <a:t>K_VCO higher than spec</a:t>
                      </a:r>
                    </a:p>
                    <a:p>
                      <a:r>
                        <a:rPr sz="1300" b="1" i="0">
                          <a:solidFill>
                            <a:srgbClr val="262626"/>
                          </a:solidFill>
                          <a:latin typeface="Arial"/>
                        </a:rPr>
                        <a:t>(≈ 1.08 GHz/V vs 750 MHz/V)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</a:rPr>
                        <a:t>600 MHz span over ~0.7 V V_ctrl forces ≥ 857 MHz/V on average; 750 MHz/V is possible only locally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</a:rPr>
                        <a:t>Loop filter recalculated with the measured K_VCO → BW = 3.75 MHz, PM = 60° restored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62626"/>
                          </a:solidFill>
                          <a:latin typeface="Arial"/>
                        </a:rPr>
                        <a:t>Charge-pump UP/DN mismatch</a:t>
                      </a:r>
                    </a:p>
                  </a:txBody>
                  <a:tcPr marL="70000" marR="70000" marT="30000" marB="30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</a:rPr>
                        <a:t>Channel-length modulation in short-L mirrors; limited headroom</a:t>
                      </a:r>
                    </a:p>
                  </a:txBody>
                  <a:tcPr marL="70000" marR="70000" marT="30000" marB="30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</a:rPr>
                        <a:t>Longer-L mirrors, replica-bias CP with error amplifier, beta-multiplier reference → mismatch &lt; 5 % over 0.2–0.9 V</a:t>
                      </a:r>
                    </a:p>
                  </a:txBody>
                  <a:tcPr marL="70000" marR="70000" marT="30000" marB="30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62626"/>
                          </a:solidFill>
                          <a:latin typeface="Arial"/>
                        </a:rPr>
                        <a:t>Narrow, non-full-swing PFD pulses</a:t>
                      </a:r>
                    </a:p>
                    <a:p>
                      <a:r>
                        <a:rPr sz="1300" b="1" i="0">
                          <a:solidFill>
                            <a:srgbClr val="262626"/>
                          </a:solidFill>
                          <a:latin typeface="Arial"/>
                        </a:rPr>
                        <a:t>(~150 ps, triangular)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</a:rPr>
                        <a:t>Reset path too short for UP/DN to reach full swing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</a:rPr>
                        <a:t>Longer reset-delay cell + output buffers → full-swing ~225 ps pulses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62626"/>
                          </a:solidFill>
                          <a:latin typeface="Arial"/>
                        </a:rPr>
                        <a:t>CP polarity bug &amp; divider supply swap</a:t>
                      </a:r>
                    </a:p>
                  </a:txBody>
                  <a:tcPr marL="70000" marR="70000" marT="30000" marB="30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</a:rPr>
                        <a:t>V_ctrl stuck at VDD; divider VDD/GND reversed</a:t>
                      </a:r>
                    </a:p>
                  </a:txBody>
                  <a:tcPr marL="70000" marR="70000" marT="30000" marB="30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</a:rPr>
                        <a:t>Found with block-level testbenches and fixed before integration</a:t>
                      </a:r>
                    </a:p>
                  </a:txBody>
                  <a:tcPr marL="70000" marR="70000" marT="30000" marB="30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62626"/>
                          </a:solidFill>
                          <a:latin typeface="Arial"/>
                        </a:rPr>
                        <a:t>Ideal R / C → PDK devices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dirty="0" err="1">
                          <a:solidFill>
                            <a:srgbClr val="262626"/>
                          </a:solidFill>
                          <a:latin typeface="Arial"/>
                        </a:rPr>
                        <a:t>mimcap</a:t>
                      </a:r>
                      <a:r>
                        <a:rPr sz="1300" b="0" i="0" dirty="0">
                          <a:solidFill>
                            <a:srgbClr val="262626"/>
                          </a:solidFill>
                          <a:latin typeface="Arial"/>
                        </a:rPr>
                        <a:t> and </a:t>
                      </a:r>
                      <a:r>
                        <a:rPr sz="1300" b="0" i="0" dirty="0" err="1">
                          <a:solidFill>
                            <a:srgbClr val="262626"/>
                          </a:solidFill>
                          <a:latin typeface="Arial"/>
                        </a:rPr>
                        <a:t>resnsppoly</a:t>
                      </a:r>
                      <a:r>
                        <a:rPr sz="1300" b="0" i="0" dirty="0">
                          <a:solidFill>
                            <a:srgbClr val="262626"/>
                          </a:solidFill>
                          <a:latin typeface="Arial"/>
                        </a:rPr>
                        <a:t> values differ from </a:t>
                      </a:r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Arial"/>
                        </a:rPr>
                        <a:t>the </a:t>
                      </a:r>
                      <a:r>
                        <a:rPr sz="1300" b="0" i="0" dirty="0">
                          <a:solidFill>
                            <a:srgbClr val="262626"/>
                          </a:solidFill>
                          <a:latin typeface="Arial"/>
                        </a:rPr>
                        <a:t>ideal R and C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dirty="0">
                          <a:solidFill>
                            <a:srgbClr val="262626"/>
                          </a:solidFill>
                          <a:latin typeface="Arial"/>
                        </a:rPr>
                        <a:t>Values re-tuned (C: m = 445 / 33, R: </a:t>
                      </a:r>
                      <a:r>
                        <a:rPr sz="1300" b="0" i="0" dirty="0" err="1">
                          <a:solidFill>
                            <a:srgbClr val="262626"/>
                          </a:solidFill>
                          <a:latin typeface="Arial"/>
                        </a:rPr>
                        <a:t>segL</a:t>
                      </a:r>
                      <a:r>
                        <a:rPr sz="1300" b="0" i="0" dirty="0">
                          <a:solidFill>
                            <a:srgbClr val="262626"/>
                          </a:solidFill>
                          <a:latin typeface="Arial"/>
                        </a:rPr>
                        <a:t>) to keep BW and PM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623850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2C672-E565-34D9-BD41-B504F1B7D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799" y="652717"/>
            <a:ext cx="10058400" cy="729006"/>
          </a:xfrm>
        </p:spPr>
        <p:txBody>
          <a:bodyPr>
            <a:normAutofit/>
          </a:bodyPr>
          <a:lstStyle/>
          <a:p>
            <a:r>
              <a:rPr lang="en-US" sz="2800" dirty="0"/>
              <a:t>5.2 Result Comparison: Specified vs Achieved</a:t>
            </a:r>
            <a:endParaRPr lang="en-GB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9777CD-4032-360E-7A48-7FE9636D0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42</a:t>
            </a:fld>
            <a:endParaRPr lang="en-B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53DE9F-9C2B-2286-EFD9-A8CBE2B41F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56363"/>
          </a:xfrm>
        </p:spPr>
        <p:txBody>
          <a:bodyPr/>
          <a:lstStyle/>
          <a:p>
            <a:r>
              <a:rPr lang="en-US"/>
              <a:t>EEE 466 (2026) – Final Project Group 03.G2</a:t>
            </a:r>
            <a:endParaRPr lang="en-BD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BF744D-9F67-FA7D-0591-CA5EA3B57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3400000" cy="375412"/>
          </a:xfrm>
        </p:spPr>
        <p:txBody>
          <a:bodyPr/>
          <a:lstStyle/>
          <a:p>
            <a:pPr algn="l"/>
            <a:r>
              <a:rPr lang="en-BD"/>
              <a:t>1.2 GHz Charge-Pump PLL</a:t>
            </a:r>
            <a:endParaRPr lang="en-BD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B6DBB1-0ECF-7E88-6A58-831B47A29F95}"/>
              </a:ext>
            </a:extLst>
          </p:cNvPr>
          <p:cNvSpPr txBox="1"/>
          <p:nvPr/>
        </p:nvSpPr>
        <p:spPr>
          <a:xfrm>
            <a:off x="875000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Group 03.G2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63C5FA0-BF89-4385-AAB1-6920287730EC}"/>
              </a:ext>
            </a:extLst>
          </p:cNvPr>
          <p:cNvSpPr txBox="1">
            <a:spLocks/>
          </p:cNvSpPr>
          <p:nvPr/>
        </p:nvSpPr>
        <p:spPr>
          <a:xfrm>
            <a:off x="1066800" y="163926"/>
            <a:ext cx="10058400" cy="7290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sz="3600" dirty="0"/>
              <a:t>5. Design Analysis and Evaluation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0000" y="1450000"/>
          <a:ext cx="5499998" cy="429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48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07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12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30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00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Group 6 parameter</a:t>
                      </a:r>
                    </a:p>
                  </a:txBody>
                  <a:tcPr marL="70000" marR="70000" marT="30000" marB="3000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Specified</a:t>
                      </a:r>
                    </a:p>
                  </a:txBody>
                  <a:tcPr marL="70000" marR="70000" marT="30000" marB="3000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Achieved</a:t>
                      </a:r>
                    </a:p>
                  </a:txBody>
                  <a:tcPr marL="70000" marR="70000" marT="30000" marB="3000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0000" marR="70000" marT="30000" marB="30000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0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Arial"/>
                        </a:rPr>
                        <a:t>Reference frequency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75 MHz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75 MHz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1E7B34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0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Arial"/>
                        </a:rPr>
                        <a:t>Division ratio N</a:t>
                      </a:r>
                    </a:p>
                  </a:txBody>
                  <a:tcPr marL="70000" marR="70000" marT="30000" marB="30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70000" marR="70000" marT="30000" marB="30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70000" marR="70000" marT="30000" marB="30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1E7B34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70000" marR="70000" marT="30000" marB="30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0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Arial"/>
                        </a:rPr>
                        <a:t>Output frequency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1.20 GHz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1.200 GHz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1E7B34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0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Arial"/>
                        </a:rPr>
                        <a:t>VCO topology</a:t>
                      </a:r>
                    </a:p>
                  </a:txBody>
                  <a:tcPr marL="70000" marR="70000" marT="30000" marB="30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7-stage CS ring</a:t>
                      </a:r>
                    </a:p>
                  </a:txBody>
                  <a:tcPr marL="70000" marR="70000" marT="30000" marB="30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7-stage CS ring</a:t>
                      </a:r>
                    </a:p>
                  </a:txBody>
                  <a:tcPr marL="70000" marR="70000" marT="30000" marB="30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1E7B34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70000" marR="70000" marT="30000" marB="30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0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Arial"/>
                        </a:rPr>
                        <a:t>VCO tuning range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0.90 – 1.50 GHz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0.901 – 1.50 GHz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1E7B34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0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Arial"/>
                        </a:rPr>
                        <a:t>VCO gain K_VCO</a:t>
                      </a:r>
                    </a:p>
                  </a:txBody>
                  <a:tcPr marL="70000" marR="70000" marT="30000" marB="30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750 MHz/V</a:t>
                      </a:r>
                    </a:p>
                  </a:txBody>
                  <a:tcPr marL="70000" marR="70000" marT="30000" marB="30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≈ 1.08 GHz/V</a:t>
                      </a:r>
                    </a:p>
                  </a:txBody>
                  <a:tcPr marL="70000" marR="70000" marT="30000" marB="30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C00000"/>
                          </a:solidFill>
                          <a:latin typeface="Arial"/>
                        </a:rPr>
                        <a:t>✗*</a:t>
                      </a:r>
                    </a:p>
                  </a:txBody>
                  <a:tcPr marL="70000" marR="70000" marT="30000" marB="30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00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Arial"/>
                        </a:rPr>
                        <a:t>CP current I_CP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50 µA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50.0 µA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1E7B34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00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Arial"/>
                        </a:rPr>
                        <a:t>Loop bandwidth</a:t>
                      </a:r>
                    </a:p>
                  </a:txBody>
                  <a:tcPr marL="70000" marR="70000" marT="30000" marB="30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3.75 MHz</a:t>
                      </a:r>
                    </a:p>
                  </a:txBody>
                  <a:tcPr marL="70000" marR="70000" marT="30000" marB="30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3.752 MHz</a:t>
                      </a:r>
                    </a:p>
                  </a:txBody>
                  <a:tcPr marL="70000" marR="70000" marT="30000" marB="30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1E7B34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70000" marR="70000" marT="30000" marB="30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00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Arial"/>
                        </a:rPr>
                        <a:t>Phase margin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60°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60.0°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1E7B34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00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Arial"/>
                        </a:rPr>
                        <a:t>Lock time</a:t>
                      </a:r>
                    </a:p>
                  </a:txBody>
                  <a:tcPr marL="70000" marR="70000" marT="30000" marB="30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≤ 8 µs</a:t>
                      </a:r>
                    </a:p>
                  </a:txBody>
                  <a:tcPr marL="70000" marR="70000" marT="30000" marB="30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0.52 µs</a:t>
                      </a:r>
                    </a:p>
                  </a:txBody>
                  <a:tcPr marL="70000" marR="70000" marT="30000" marB="30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1E7B34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70000" marR="70000" marT="30000" marB="30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00000" y="1450000"/>
          <a:ext cx="5499998" cy="358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48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07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12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30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00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Common requirement</a:t>
                      </a:r>
                    </a:p>
                  </a:txBody>
                  <a:tcPr marL="70000" marR="70000" marT="30000" marB="3000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Specified</a:t>
                      </a:r>
                    </a:p>
                  </a:txBody>
                  <a:tcPr marL="70000" marR="70000" marT="30000" marB="3000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Achieved</a:t>
                      </a:r>
                    </a:p>
                  </a:txBody>
                  <a:tcPr marL="70000" marR="70000" marT="30000" marB="3000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0000" marR="70000" marT="30000" marB="30000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0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Arial"/>
                        </a:rPr>
                        <a:t>Supply voltage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1.1 V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1.1 V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1E7B34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0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Arial"/>
                        </a:rPr>
                        <a:t>PFD dead zone</a:t>
                      </a:r>
                    </a:p>
                  </a:txBody>
                  <a:tcPr marL="70000" marR="70000" marT="30000" marB="30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None</a:t>
                      </a:r>
                    </a:p>
                  </a:txBody>
                  <a:tcPr marL="70000" marR="70000" marT="30000" marB="30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None (20 ps test)</a:t>
                      </a:r>
                    </a:p>
                  </a:txBody>
                  <a:tcPr marL="70000" marR="70000" marT="30000" marB="30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1E7B34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70000" marR="70000" marT="30000" marB="30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0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Arial"/>
                        </a:rPr>
                        <a:t>CP matching, V_ctrl 0.2–0.9 V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≤ 5 %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&lt; 3 %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1E7B34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0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Arial"/>
                        </a:rPr>
                        <a:t>RMS period jitter</a:t>
                      </a:r>
                    </a:p>
                  </a:txBody>
                  <a:tcPr marL="70000" marR="70000" marT="30000" marB="30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≤ 8 ps</a:t>
                      </a:r>
                    </a:p>
                  </a:txBody>
                  <a:tcPr marL="70000" marR="70000" marT="30000" marB="30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1.21 ps</a:t>
                      </a:r>
                    </a:p>
                  </a:txBody>
                  <a:tcPr marL="70000" marR="70000" marT="30000" marB="30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1E7B34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70000" marR="70000" marT="30000" marB="30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0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Arial"/>
                        </a:rPr>
                        <a:t>Phase noise @ 1 MHz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≤ −90 dBc/Hz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−91.9 dBc/Hz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1E7B34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0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Arial"/>
                        </a:rPr>
                        <a:t>Reference spur</a:t>
                      </a:r>
                    </a:p>
                  </a:txBody>
                  <a:tcPr marL="70000" marR="70000" marT="30000" marB="30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≤ −40 dBc</a:t>
                      </a:r>
                    </a:p>
                  </a:txBody>
                  <a:tcPr marL="70000" marR="70000" marT="30000" marB="30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−64.5 dBc</a:t>
                      </a:r>
                    </a:p>
                  </a:txBody>
                  <a:tcPr marL="70000" marR="70000" marT="30000" marB="30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1E7B34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70000" marR="70000" marT="30000" marB="30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00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Arial"/>
                        </a:rPr>
                        <a:t>Total power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≤ 5 mW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2.315 mW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1E7B34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00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Arial"/>
                        </a:rPr>
                        <a:t>Layout area</a:t>
                      </a:r>
                    </a:p>
                  </a:txBody>
                  <a:tcPr marL="70000" marR="70000" marT="30000" marB="30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0000" marR="70000" marT="30000" marB="30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625,068 µm² = 0.6251 mm²</a:t>
                      </a:r>
                    </a:p>
                  </a:txBody>
                  <a:tcPr marL="70000" marR="70000" marT="30000" marB="30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0000" marR="70000" marT="30000" marB="30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200000" y="5050000"/>
            <a:ext cx="5500000" cy="1300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 dirty="0">
                <a:solidFill>
                  <a:srgbClr val="C00000"/>
                </a:solidFill>
                <a:latin typeface="Arial"/>
              </a:rPr>
              <a:t>* K_VCO: </a:t>
            </a:r>
            <a:r>
              <a:rPr sz="1200" b="0" i="0" dirty="0">
                <a:solidFill>
                  <a:srgbClr val="262626"/>
                </a:solidFill>
                <a:latin typeface="Arial"/>
              </a:rPr>
              <a:t>a 600 MHz span over ~0.7 V of </a:t>
            </a:r>
            <a:r>
              <a:rPr sz="1200" b="0" i="0" dirty="0" err="1">
                <a:solidFill>
                  <a:srgbClr val="262626"/>
                </a:solidFill>
                <a:latin typeface="Arial"/>
              </a:rPr>
              <a:t>V_ctrl</a:t>
            </a:r>
            <a:r>
              <a:rPr sz="1200" b="0" i="0" dirty="0">
                <a:solidFill>
                  <a:srgbClr val="262626"/>
                </a:solidFill>
                <a:latin typeface="Arial"/>
              </a:rPr>
              <a:t> needs ≥ 857 MHz/V on average, so 750 MHz/V cannot coexist with the tuning range. The loop filter was recalculated with the measured K_VCO, so BW and PM still meet spec.</a:t>
            </a:r>
          </a:p>
          <a:p>
            <a:pPr algn="l">
              <a:spcAft>
                <a:spcPts val="400"/>
              </a:spcAft>
            </a:pPr>
            <a:r>
              <a:rPr sz="1200" b="0" i="0" dirty="0">
                <a:solidFill>
                  <a:srgbClr val="595959"/>
                </a:solidFill>
                <a:latin typeface="Arial"/>
              </a:rPr>
              <a:t>Also: </a:t>
            </a:r>
            <a:r>
              <a:rPr sz="1200" b="0" i="0" dirty="0" err="1">
                <a:solidFill>
                  <a:srgbClr val="595959"/>
                </a:solidFill>
                <a:latin typeface="Arial"/>
              </a:rPr>
              <a:t>V_ctrl</a:t>
            </a:r>
            <a:r>
              <a:rPr sz="1200" b="0" i="0" dirty="0">
                <a:solidFill>
                  <a:srgbClr val="595959"/>
                </a:solidFill>
                <a:latin typeface="Arial"/>
              </a:rPr>
              <a:t> at lock = 575.7 mV, ripple = 10.13 mV p-p.</a:t>
            </a:r>
          </a:p>
        </p:txBody>
      </p:sp>
    </p:spTree>
    <p:extLst>
      <p:ext uri="{BB962C8B-B14F-4D97-AF65-F5344CB8AC3E}">
        <p14:creationId xmlns:p14="http://schemas.microsoft.com/office/powerpoint/2010/main" val="128434634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2C672-E565-34D9-BD41-B504F1B7D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60453"/>
            <a:ext cx="10571018" cy="729006"/>
          </a:xfrm>
        </p:spPr>
        <p:txBody>
          <a:bodyPr>
            <a:normAutofit/>
          </a:bodyPr>
          <a:lstStyle/>
          <a:p>
            <a:r>
              <a:rPr lang="en-US" sz="2800" dirty="0"/>
              <a:t>5.3 Limitations &amp; Unresolved Challenges</a:t>
            </a:r>
            <a:endParaRPr lang="en-GB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9777CD-4032-360E-7A48-7FE9636D0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43</a:t>
            </a:fld>
            <a:endParaRPr lang="en-B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53DE9F-9C2B-2286-EFD9-A8CBE2B41F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56363"/>
          </a:xfrm>
        </p:spPr>
        <p:txBody>
          <a:bodyPr/>
          <a:lstStyle/>
          <a:p>
            <a:r>
              <a:rPr lang="en-US"/>
              <a:t>EEE 466 (2026) – Final Project Group 03.G2</a:t>
            </a:r>
            <a:endParaRPr lang="en-BD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BF744D-9F67-FA7D-0591-CA5EA3B57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3400000" cy="375412"/>
          </a:xfrm>
        </p:spPr>
        <p:txBody>
          <a:bodyPr/>
          <a:lstStyle/>
          <a:p>
            <a:pPr algn="l"/>
            <a:r>
              <a:rPr lang="en-BD"/>
              <a:t>1.2 GHz Charge-Pump PLL</a:t>
            </a:r>
            <a:endParaRPr lang="en-BD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B6DBB1-0ECF-7E88-6A58-831B47A29F95}"/>
              </a:ext>
            </a:extLst>
          </p:cNvPr>
          <p:cNvSpPr txBox="1"/>
          <p:nvPr/>
        </p:nvSpPr>
        <p:spPr>
          <a:xfrm>
            <a:off x="875000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Group 03.G2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09A550E-99DA-48CB-9C67-7EA58D520A7B}"/>
              </a:ext>
            </a:extLst>
          </p:cNvPr>
          <p:cNvSpPr txBox="1">
            <a:spLocks/>
          </p:cNvSpPr>
          <p:nvPr/>
        </p:nvSpPr>
        <p:spPr>
          <a:xfrm>
            <a:off x="1066800" y="140203"/>
            <a:ext cx="10058400" cy="7290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sz="3600" dirty="0"/>
              <a:t>5. Design Analysis and Evaluation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04467" y="1650000"/>
            <a:ext cx="3453333" cy="214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0000" tIns="90000" rIns="120000" rtlCol="0" anchor="t"/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C00000"/>
                </a:solidFill>
                <a:latin typeface="Arial"/>
              </a:rPr>
              <a:t>K_VCO spec not met directly</a:t>
            </a:r>
          </a:p>
          <a:p>
            <a:pPr marL="200000" indent="-200000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</a:rPr>
              <a:t>750 MHz/V is incompatible with the required tuning range</a:t>
            </a:r>
          </a:p>
          <a:p>
            <a:pPr marL="200000" indent="-200000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</a:rPr>
              <a:t>Compensated at system level via the loop filter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73677" y="1640778"/>
            <a:ext cx="3453333" cy="214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0000" tIns="90000" rIns="120000" rtlCol="0" anchor="t"/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C00000"/>
                </a:solidFill>
                <a:latin typeface="Arial"/>
              </a:rPr>
              <a:t>Residual CP charge imbalance</a:t>
            </a:r>
          </a:p>
          <a:p>
            <a:pPr marL="200000" indent="-200000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</a:rPr>
              <a:t>Small UP/DN charge imbalance at lock (~14 fC/cycle)</a:t>
            </a:r>
          </a:p>
          <a:p>
            <a:pPr marL="200000" indent="-200000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</a:rPr>
              <a:t>Acceptable: spur −64.5 dBc vs −40 dBc spec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04467" y="4010000"/>
            <a:ext cx="3453333" cy="214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0000" tIns="90000" rIns="120000" rtlCol="0" anchor="t"/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C00000"/>
                </a:solidFill>
                <a:latin typeface="Arial"/>
              </a:rPr>
              <a:t>Loop-filter area</a:t>
            </a:r>
          </a:p>
          <a:p>
            <a:pPr marL="200000" indent="-200000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</a:rPr>
              <a:t>Capacitors dominate: ≈ 0.2024 mm² of the 0.6251 mm² layout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5678" y="4066597"/>
            <a:ext cx="3453333" cy="214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0000" tIns="90000" rIns="120000" rtlCol="0" anchor="t"/>
          <a:lstStyle/>
          <a:p>
            <a:pPr algn="ctr">
              <a:spcAft>
                <a:spcPts val="400"/>
              </a:spcAft>
            </a:pPr>
            <a:r>
              <a:rPr sz="1500" b="1" i="0" dirty="0">
                <a:solidFill>
                  <a:srgbClr val="C00000"/>
                </a:solidFill>
                <a:latin typeface="Arial"/>
              </a:rPr>
              <a:t>Pre-layout verification only</a:t>
            </a:r>
          </a:p>
          <a:p>
            <a:pPr marL="200000" indent="-200000">
              <a:spcAft>
                <a:spcPts val="400"/>
              </a:spcAft>
              <a:buFont typeface="Arial"/>
              <a:buChar char="•"/>
            </a:pPr>
            <a:r>
              <a:rPr sz="1400" b="0" i="0" dirty="0">
                <a:solidFill>
                  <a:srgbClr val="262626"/>
                </a:solidFill>
                <a:latin typeface="Arial"/>
              </a:rPr>
              <a:t>Results are schematic-level simulations</a:t>
            </a:r>
          </a:p>
          <a:p>
            <a:pPr marL="200000" indent="-200000">
              <a:spcAft>
                <a:spcPts val="400"/>
              </a:spcAft>
              <a:buFont typeface="Arial"/>
              <a:buChar char="•"/>
            </a:pPr>
            <a:r>
              <a:rPr sz="1400" b="0" i="0" dirty="0">
                <a:solidFill>
                  <a:srgbClr val="262626"/>
                </a:solidFill>
                <a:latin typeface="Arial"/>
              </a:rPr>
              <a:t>No post-layout (PEX) or process-corner runs</a:t>
            </a:r>
          </a:p>
        </p:txBody>
      </p:sp>
    </p:spTree>
    <p:extLst>
      <p:ext uri="{BB962C8B-B14F-4D97-AF65-F5344CB8AC3E}">
        <p14:creationId xmlns:p14="http://schemas.microsoft.com/office/powerpoint/2010/main" val="421623850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050AC-A28B-BFBC-FBA4-9DE600AE3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3600" dirty="0"/>
              <a:t>6.1 Individual Contribution of Each Member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F24355-A269-4C7E-7377-5CDD2E389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44</a:t>
            </a:fld>
            <a:endParaRPr lang="en-B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DA1799-EACD-1A8B-5E85-A9FC657B07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56363"/>
          </a:xfrm>
        </p:spPr>
        <p:txBody>
          <a:bodyPr/>
          <a:lstStyle/>
          <a:p>
            <a:r>
              <a:rPr lang="en-US"/>
              <a:t>EEE 466 (2026) – Final Project Group 03.G2</a:t>
            </a:r>
            <a:endParaRPr lang="en-BD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2A33B4-1A80-9EB5-5592-98F22D4A4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3400000" cy="375412"/>
          </a:xfrm>
        </p:spPr>
        <p:txBody>
          <a:bodyPr/>
          <a:lstStyle/>
          <a:p>
            <a:pPr algn="l"/>
            <a:r>
              <a:rPr lang="en-BD"/>
              <a:t>1.2 GHz Charge-Pump PLL</a:t>
            </a:r>
            <a:endParaRPr lang="en-BD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C5014D-E724-98D1-08B1-D54FCF40FA6F}"/>
              </a:ext>
            </a:extLst>
          </p:cNvPr>
          <p:cNvSpPr txBox="1"/>
          <p:nvPr/>
        </p:nvSpPr>
        <p:spPr>
          <a:xfrm>
            <a:off x="875000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Group 03.G2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4614473"/>
              </p:ext>
            </p:extLst>
          </p:nvPr>
        </p:nvGraphicFramePr>
        <p:xfrm>
          <a:off x="1066800" y="1500000"/>
          <a:ext cx="10058399" cy="46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11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739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32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00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Block / task</a:t>
                      </a:r>
                    </a:p>
                  </a:txBody>
                  <a:tcPr marL="70000" marR="70000" marT="30000" marB="3000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Work done</a:t>
                      </a:r>
                    </a:p>
                  </a:txBody>
                  <a:tcPr marL="70000" marR="70000" marT="30000" marB="3000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Member (ID)</a:t>
                      </a:r>
                    </a:p>
                  </a:txBody>
                  <a:tcPr marL="70000" marR="70000" marT="30000" marB="30000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00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62626"/>
                          </a:solidFill>
                          <a:latin typeface="Arial"/>
                        </a:rPr>
                        <a:t>Phase-frequency detector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</a:rPr>
                        <a:t>Tri-state DFF PFD, reset-delay cell, output buffers; dead-zone tests; layout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2106182, 150</a:t>
                      </a:r>
                      <a:endParaRPr dirty="0"/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000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62626"/>
                          </a:solidFill>
                          <a:latin typeface="Arial"/>
                        </a:rPr>
                        <a:t>Charge pump &amp; bias</a:t>
                      </a:r>
                    </a:p>
                  </a:txBody>
                  <a:tcPr marL="70000" marR="70000" marT="30000" marB="30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</a:rPr>
                        <a:t>Replica-bias CP, error amplifier, beta-multiplier; matching &amp; STB sweeps; layout</a:t>
                      </a:r>
                    </a:p>
                  </a:txBody>
                  <a:tcPr marL="70000" marR="70000" marT="30000" marB="30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2106089, 150, 181</a:t>
                      </a:r>
                      <a:endParaRPr dirty="0"/>
                    </a:p>
                  </a:txBody>
                  <a:tcPr marL="70000" marR="70000" marT="30000" marB="30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000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62626"/>
                          </a:solidFill>
                          <a:latin typeface="Arial"/>
                        </a:rPr>
                        <a:t>VCO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</a:rPr>
                        <a:t>7-stage current-starved ring; tuning range, K_VCO, phase noise; layout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2106150, 89</a:t>
                      </a:r>
                      <a:endParaRPr dirty="0"/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000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62626"/>
                          </a:solidFill>
                          <a:latin typeface="Arial"/>
                        </a:rPr>
                        <a:t>Loop filter</a:t>
                      </a:r>
                    </a:p>
                  </a:txBody>
                  <a:tcPr marL="70000" marR="70000" marT="30000" marB="30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</a:rPr>
                        <a:t>Loop-filter calculation, K_VCO-aware rescaling, mimcap / poly-R implementation; layout</a:t>
                      </a:r>
                    </a:p>
                  </a:txBody>
                  <a:tcPr marL="70000" marR="70000" marT="30000" marB="30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2106181, 182</a:t>
                      </a:r>
                      <a:endParaRPr dirty="0"/>
                    </a:p>
                  </a:txBody>
                  <a:tcPr marL="70000" marR="70000" marT="30000" marB="30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000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62626"/>
                          </a:solidFill>
                          <a:latin typeface="Arial"/>
                        </a:rPr>
                        <a:t>Frequency divider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</a:rPr>
                        <a:t>4-stage ÷2 DFF chain; functional verification; layout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2106181, 89</a:t>
                      </a:r>
                      <a:endParaRPr dirty="0"/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000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62626"/>
                          </a:solidFill>
                          <a:latin typeface="Arial"/>
                        </a:rPr>
                        <a:t>Top-level integration</a:t>
                      </a:r>
                    </a:p>
                  </a:txBody>
                  <a:tcPr marL="70000" marR="70000" marT="30000" marB="30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dirty="0">
                          <a:solidFill>
                            <a:srgbClr val="262626"/>
                          </a:solidFill>
                          <a:latin typeface="Arial"/>
                        </a:rPr>
                        <a:t>PLL_TOP assembly; lock, jitter, spur and power measurements; DRC &amp; LVS</a:t>
                      </a:r>
                    </a:p>
                  </a:txBody>
                  <a:tcPr marL="70000" marR="70000" marT="30000" marB="30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2106150, 182</a:t>
                      </a:r>
                      <a:endParaRPr dirty="0"/>
                    </a:p>
                  </a:txBody>
                  <a:tcPr marL="70000" marR="70000" marT="30000" marB="30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000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62626"/>
                          </a:solidFill>
                          <a:latin typeface="Arial"/>
                        </a:rPr>
                        <a:t>Report &amp; presentation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dirty="0">
                          <a:solidFill>
                            <a:srgbClr val="262626"/>
                          </a:solidFill>
                          <a:latin typeface="Arial"/>
                        </a:rPr>
                        <a:t>Documentation and slides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ALL</a:t>
                      </a:r>
                      <a:endParaRPr dirty="0"/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361612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BF11D-A416-0F4E-9F78-0DF2456C7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7. References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C25CA0-776A-F245-A1EB-5693AB3E5DE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56363"/>
          </a:xfrm>
        </p:spPr>
        <p:txBody>
          <a:bodyPr/>
          <a:lstStyle/>
          <a:p>
            <a:r>
              <a:rPr lang="en-US" dirty="0"/>
              <a:t>EEE 466 (2026) – Final Project Group 03.G2</a:t>
            </a:r>
            <a:endParaRPr lang="en-B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D3A405-BAC8-CE44-AF2C-14F068990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45</a:t>
            </a:fld>
            <a:endParaRPr lang="e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879CCC-2513-EADF-D5E3-66E952D33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3400000" cy="375412"/>
          </a:xfrm>
        </p:spPr>
        <p:txBody>
          <a:bodyPr/>
          <a:lstStyle/>
          <a:p>
            <a:pPr algn="l"/>
            <a:r>
              <a:rPr lang="en-BD"/>
              <a:t>1.2 GHz Charge-Pump PLL</a:t>
            </a:r>
            <a:endParaRPr lang="en-BD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2AC141-FFE5-3761-9276-1F661A0E6FB9}"/>
              </a:ext>
            </a:extLst>
          </p:cNvPr>
          <p:cNvSpPr txBox="1"/>
          <p:nvPr/>
        </p:nvSpPr>
        <p:spPr>
          <a:xfrm>
            <a:off x="875000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Group 03.G2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1A5034-4EBA-4680-836A-313873E0D793}"/>
              </a:ext>
            </a:extLst>
          </p:cNvPr>
          <p:cNvSpPr txBox="1"/>
          <p:nvPr/>
        </p:nvSpPr>
        <p:spPr>
          <a:xfrm>
            <a:off x="700000" y="1450000"/>
            <a:ext cx="10800000" cy="4800000"/>
          </a:xfrm>
          <a:prstGeom prst="rect">
            <a:avLst/>
          </a:prstGeom>
          <a:noFill/>
        </p:spPr>
        <p:txBody>
          <a:bodyPr wrap="square"/>
          <a:lstStyle/>
          <a:p>
            <a:pPr marL="520000" indent="-520000">
              <a:spcAft>
                <a:spcPts val="900"/>
              </a:spcAft>
            </a:pPr>
            <a:r>
              <a:rPr sz="1500" b="1" i="0">
                <a:solidFill>
                  <a:srgbClr val="C00000"/>
                </a:solidFill>
                <a:latin typeface="Arial"/>
              </a:rPr>
              <a:t>[1]	</a:t>
            </a:r>
            <a:r>
              <a:rPr sz="1500" b="0" i="0">
                <a:solidFill>
                  <a:srgbClr val="262626"/>
                </a:solidFill>
                <a:latin typeface="Arial"/>
              </a:rPr>
              <a:t>B. Razavi, </a:t>
            </a:r>
            <a:r>
              <a:rPr sz="1500" b="0" i="1">
                <a:solidFill>
                  <a:srgbClr val="262626"/>
                </a:solidFill>
                <a:latin typeface="Arial"/>
              </a:rPr>
              <a:t>Design of Analog CMOS Integrated Circuits</a:t>
            </a:r>
            <a:r>
              <a:rPr sz="1500" b="0" i="0">
                <a:solidFill>
                  <a:srgbClr val="262626"/>
                </a:solidFill>
                <a:latin typeface="Arial"/>
              </a:rPr>
              <a:t>, 2nd ed. New York, NY, USA: McGraw-Hill, 2017, ch. 15–16.</a:t>
            </a:r>
          </a:p>
          <a:p>
            <a:pPr marL="520000" indent="-520000">
              <a:spcAft>
                <a:spcPts val="900"/>
              </a:spcAft>
            </a:pPr>
            <a:r>
              <a:rPr sz="1500" b="1" i="0">
                <a:solidFill>
                  <a:srgbClr val="C00000"/>
                </a:solidFill>
                <a:latin typeface="Arial"/>
              </a:rPr>
              <a:t>[2]	</a:t>
            </a:r>
            <a:r>
              <a:rPr sz="1500" b="0" i="0">
                <a:solidFill>
                  <a:srgbClr val="262626"/>
                </a:solidFill>
                <a:latin typeface="Arial"/>
              </a:rPr>
              <a:t>M. K. Jha, "Designing a complete PLL: Type-II, 3rd-order phase-locked loop design," Classical PLL Project Report, Dept. of Electrical Engineering, Indian Institute of Technology Patna, Bihta, India, Sep. 2025.</a:t>
            </a:r>
          </a:p>
          <a:p>
            <a:pPr marL="520000" indent="-520000">
              <a:spcAft>
                <a:spcPts val="900"/>
              </a:spcAft>
            </a:pPr>
            <a:r>
              <a:rPr sz="1500" b="1" i="0">
                <a:solidFill>
                  <a:srgbClr val="C00000"/>
                </a:solidFill>
                <a:latin typeface="Arial"/>
              </a:rPr>
              <a:t>[3]	</a:t>
            </a:r>
            <a:r>
              <a:rPr sz="1500" b="0" i="0">
                <a:solidFill>
                  <a:srgbClr val="262626"/>
                </a:solidFill>
                <a:latin typeface="Arial"/>
              </a:rPr>
              <a:t>A. Hajimiri and T. H. Lee, "A general theory of phase noise in electrical oscillators," </a:t>
            </a:r>
            <a:r>
              <a:rPr sz="1500" b="0" i="1">
                <a:solidFill>
                  <a:srgbClr val="262626"/>
                </a:solidFill>
                <a:latin typeface="Arial"/>
              </a:rPr>
              <a:t>IEEE J. Solid-State Circuits</a:t>
            </a:r>
            <a:r>
              <a:rPr sz="1500" b="0" i="0">
                <a:solidFill>
                  <a:srgbClr val="262626"/>
                </a:solidFill>
                <a:latin typeface="Arial"/>
              </a:rPr>
              <a:t>, vol. 33, no. 2, pp. 179–194, Feb. 1998.</a:t>
            </a:r>
          </a:p>
          <a:p>
            <a:pPr marL="520000" indent="-520000">
              <a:spcAft>
                <a:spcPts val="900"/>
              </a:spcAft>
            </a:pPr>
            <a:r>
              <a:rPr sz="1500" b="1" i="0">
                <a:solidFill>
                  <a:srgbClr val="C00000"/>
                </a:solidFill>
                <a:latin typeface="Arial"/>
              </a:rPr>
              <a:t>[4]	</a:t>
            </a:r>
            <a:r>
              <a:rPr sz="1500" b="0" i="0">
                <a:solidFill>
                  <a:srgbClr val="262626"/>
                </a:solidFill>
                <a:latin typeface="Arial"/>
              </a:rPr>
              <a:t>S. Palermo, "ECEN 620: Network Theory – Broadband Circuit Design," lecture notes, Texas A&amp;M University, College Station, TX, USA.</a:t>
            </a:r>
          </a:p>
          <a:p>
            <a:pPr marL="520000" indent="-520000">
              <a:spcAft>
                <a:spcPts val="900"/>
              </a:spcAft>
            </a:pPr>
            <a:r>
              <a:rPr sz="1500" b="1" i="0">
                <a:solidFill>
                  <a:srgbClr val="C00000"/>
                </a:solidFill>
                <a:latin typeface="Arial"/>
              </a:rPr>
              <a:t>[5]	</a:t>
            </a:r>
            <a:r>
              <a:rPr sz="1500" b="0" i="0">
                <a:solidFill>
                  <a:srgbClr val="262626"/>
                </a:solidFill>
                <a:latin typeface="Arial"/>
              </a:rPr>
              <a:t>D. Fischette, "Practical phase-locked loop design," tutorial, </a:t>
            </a:r>
            <a:r>
              <a:rPr sz="1500" b="0" i="1">
                <a:solidFill>
                  <a:srgbClr val="262626"/>
                </a:solidFill>
                <a:latin typeface="Arial"/>
              </a:rPr>
              <a:t>IEEE Int. Solid-State Circuits Conf. (ISSCC)</a:t>
            </a:r>
            <a:r>
              <a:rPr sz="1500" b="0" i="0">
                <a:solidFill>
                  <a:srgbClr val="262626"/>
                </a:solidFill>
                <a:latin typeface="Arial"/>
              </a:rPr>
              <a:t>, San Francisco, CA, USA, 2004.</a:t>
            </a:r>
          </a:p>
          <a:p>
            <a:pPr marL="520000" indent="-520000">
              <a:spcAft>
                <a:spcPts val="900"/>
              </a:spcAft>
            </a:pPr>
            <a:r>
              <a:rPr sz="1500" b="1" i="0">
                <a:solidFill>
                  <a:srgbClr val="C00000"/>
                </a:solidFill>
                <a:latin typeface="Arial"/>
              </a:rPr>
              <a:t>[6]	</a:t>
            </a:r>
            <a:r>
              <a:rPr sz="1500" b="0" i="0">
                <a:solidFill>
                  <a:srgbClr val="262626"/>
                </a:solidFill>
                <a:latin typeface="Arial"/>
              </a:rPr>
              <a:t>Cadence Design Systems, </a:t>
            </a:r>
            <a:r>
              <a:rPr sz="1500" b="0" i="1">
                <a:solidFill>
                  <a:srgbClr val="262626"/>
                </a:solidFill>
                <a:latin typeface="Arial"/>
              </a:rPr>
              <a:t>GPDK045 45 nm Generic Process Design Kit: Reference Manual and DRC Rule Manual</a:t>
            </a:r>
            <a:r>
              <a:rPr sz="1500" b="0" i="0">
                <a:solidFill>
                  <a:srgbClr val="262626"/>
                </a:solidFill>
                <a:latin typeface="Arial"/>
              </a:rPr>
              <a:t>. San Jose, CA, USA: Cadence.</a:t>
            </a:r>
          </a:p>
          <a:p>
            <a:pPr marL="520000" indent="-520000">
              <a:spcAft>
                <a:spcPts val="900"/>
              </a:spcAft>
            </a:pPr>
            <a:r>
              <a:rPr sz="1500" b="1" i="0">
                <a:solidFill>
                  <a:srgbClr val="C00000"/>
                </a:solidFill>
                <a:latin typeface="Arial"/>
              </a:rPr>
              <a:t>[7]	</a:t>
            </a:r>
            <a:r>
              <a:rPr sz="1500" b="0" i="0">
                <a:solidFill>
                  <a:srgbClr val="262626"/>
                </a:solidFill>
                <a:latin typeface="Arial"/>
              </a:rPr>
              <a:t>Dept. of EEE, BUET, </a:t>
            </a:r>
            <a:r>
              <a:rPr sz="1500" b="0" i="1">
                <a:solidFill>
                  <a:srgbClr val="262626"/>
                </a:solidFill>
                <a:latin typeface="Arial"/>
              </a:rPr>
              <a:t>EEE 466 PLL Layout Guideline</a:t>
            </a:r>
            <a:r>
              <a:rPr sz="1500" b="0" i="0">
                <a:solidFill>
                  <a:srgbClr val="262626"/>
                </a:solidFill>
                <a:latin typeface="Arial"/>
              </a:rPr>
              <a:t>. Dhaka, Bangladesh, 2026.</a:t>
            </a:r>
          </a:p>
        </p:txBody>
      </p:sp>
    </p:spTree>
    <p:extLst>
      <p:ext uri="{BB962C8B-B14F-4D97-AF65-F5344CB8AC3E}">
        <p14:creationId xmlns:p14="http://schemas.microsoft.com/office/powerpoint/2010/main" val="30055547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{05D23346-88B9-1E48-85E6-2D29E7791F05}tf10001067</Template>
  <TotalTime>584</TotalTime>
  <Words>3625</Words>
  <Application>Microsoft Office PowerPoint</Application>
  <PresentationFormat>Widescreen</PresentationFormat>
  <Paragraphs>577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5" baseType="lpstr">
      <vt:lpstr>Aptos</vt:lpstr>
      <vt:lpstr>Arial</vt:lpstr>
      <vt:lpstr>Arial Black</vt:lpstr>
      <vt:lpstr>Arial Narrow</vt:lpstr>
      <vt:lpstr>Calibri</vt:lpstr>
      <vt:lpstr>Cambria Math</vt:lpstr>
      <vt:lpstr>Century Gothic</vt:lpstr>
      <vt:lpstr>Garamond</vt:lpstr>
      <vt:lpstr>Times New Roman</vt:lpstr>
      <vt:lpstr>Savon</vt:lpstr>
      <vt:lpstr>  Design of a CMOS Integer-16 Charge-Pump PLL </vt:lpstr>
      <vt:lpstr>Outline</vt:lpstr>
      <vt:lpstr>1. Summary</vt:lpstr>
      <vt:lpstr>2. Introduction</vt:lpstr>
      <vt:lpstr>3.1 Design: Problem Formulation</vt:lpstr>
      <vt:lpstr>3.1 Design: Problem Formulation</vt:lpstr>
      <vt:lpstr>3.2 Design Methods</vt:lpstr>
      <vt:lpstr>3.2 Design Methods</vt:lpstr>
      <vt:lpstr>3.2 Design Methods</vt:lpstr>
      <vt:lpstr>3.2 Design Methods</vt:lpstr>
      <vt:lpstr>3.2 Design Methods</vt:lpstr>
      <vt:lpstr>3.2 Design Methods</vt:lpstr>
      <vt:lpstr>3.2 Design Methods</vt:lpstr>
      <vt:lpstr>3.2 Design Methods</vt:lpstr>
      <vt:lpstr>3.2 Design Methods</vt:lpstr>
      <vt:lpstr>3.2 Design Methods</vt:lpstr>
      <vt:lpstr>3.2 Design Methods</vt:lpstr>
      <vt:lpstr>3.2 Design Methods</vt:lpstr>
      <vt:lpstr>3.2 Design Methods</vt:lpstr>
      <vt:lpstr>3.2 Design Methods</vt:lpstr>
      <vt:lpstr>3.2 Design Methods</vt:lpstr>
      <vt:lpstr>3.2 Design Methods</vt:lpstr>
      <vt:lpstr>3.2 Design Methods</vt:lpstr>
      <vt:lpstr>3.2 Design Methods</vt:lpstr>
      <vt:lpstr>3.2 Design Methods</vt:lpstr>
      <vt:lpstr>3.2 Design Methods</vt:lpstr>
      <vt:lpstr>3.2 Design Methods</vt:lpstr>
      <vt:lpstr>3.2 Design Methods</vt:lpstr>
      <vt:lpstr>3.2 Design Methods</vt:lpstr>
      <vt:lpstr>3.3 Design: Final Circuit Diagram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4.2 Layout Area Summary</vt:lpstr>
      <vt:lpstr>5.1 Major Design Challenges &amp; Solutions</vt:lpstr>
      <vt:lpstr>5.2 Result Comparison: Specified vs Achieved</vt:lpstr>
      <vt:lpstr>5.3 Limitations &amp; Unresolved Challenges</vt:lpstr>
      <vt:lpstr>6.1 Individual Contribution of Each Member</vt:lpstr>
      <vt:lpstr>7. 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Sajid Muhaimin Choudhury</dc:creator>
  <cp:lastModifiedBy>ACER</cp:lastModifiedBy>
  <cp:revision>64</cp:revision>
  <cp:lastPrinted>2023-06-08T10:53:35Z</cp:lastPrinted>
  <dcterms:created xsi:type="dcterms:W3CDTF">2021-07-11T09:27:00Z</dcterms:created>
  <dcterms:modified xsi:type="dcterms:W3CDTF">2026-09-29T10:49:56Z</dcterms:modified>
</cp:coreProperties>
</file>